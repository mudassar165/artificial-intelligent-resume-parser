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Default Extension="avif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  <p:sldId id="279" r:id="rId23"/>
    <p:sldId id="281" r:id="rId24"/>
    <p:sldId id="282" r:id="rId25"/>
    <p:sldId id="284" r:id="rId26"/>
    <p:sldId id="285" r:id="rId27"/>
    <p:sldId id="286" r:id="rId28"/>
    <p:sldId id="287" r:id="rId29"/>
    <p:sldId id="28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av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eb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eb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65245" y="1685925"/>
            <a:ext cx="7839075" cy="25666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r" fontAlgn="auto">
              <a:lnSpc>
                <a:spcPct val="120000"/>
              </a:lnSpc>
              <a:defRPr/>
            </a:pPr>
            <a:r>
              <a:rPr lang="en-US" sz="5400" b="1" i="0" u="none" spc="200" baseline="0" dirty="0">
                <a:gradFill>
                  <a:gsLst>
                    <a:gs pos="0">
                      <a:schemeClr val="accent1">
                        <a:lumMod val="25000"/>
                        <a:lumOff val="75000"/>
                      </a:schemeClr>
                    </a:gs>
                    <a:gs pos="4000">
                      <a:srgbClr val="F2E6CD"/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2700000"/>
                </a:gradFill>
                <a:latin typeface="思源宋体 CN Medium"/>
                <a:ea typeface="思源宋体 CN Medium"/>
              </a:rPr>
              <a:t>AI-Powered Resume Screening System: Intelligent NLP-Based Candidate Ranking</a:t>
            </a:r>
            <a:endParaRPr lang="en-US" sz="1100" dirty="0"/>
          </a:p>
        </p:txBody>
      </p:sp>
      <p:grpSp>
        <p:nvGrpSpPr>
          <p:cNvPr id="3" name="Group 3"/>
          <p:cNvGrpSpPr/>
          <p:nvPr/>
        </p:nvGrpSpPr>
        <p:grpSpPr>
          <a:xfrm>
            <a:off x="4513864" y="5201285"/>
            <a:ext cx="6293563" cy="923290"/>
            <a:chOff x="3291" y="8051"/>
            <a:chExt cx="9927" cy="1454"/>
          </a:xfrm>
        </p:grpSpPr>
        <p:grpSp>
          <p:nvGrpSpPr>
            <p:cNvPr id="4" name="Group 4"/>
            <p:cNvGrpSpPr/>
            <p:nvPr/>
          </p:nvGrpSpPr>
          <p:grpSpPr>
            <a:xfrm>
              <a:off x="3889" y="8051"/>
              <a:ext cx="9329" cy="1454"/>
              <a:chOff x="2535863" y="4078733"/>
              <a:chExt cx="5923667" cy="923993"/>
            </a:xfrm>
            <a:noFill/>
          </p:grpSpPr>
          <p:sp>
            <p:nvSpPr>
              <p:cNvPr id="5" name="TextBox 5"/>
              <p:cNvSpPr txBox="1"/>
              <p:nvPr/>
            </p:nvSpPr>
            <p:spPr>
              <a:xfrm>
                <a:off x="2535863" y="4078733"/>
                <a:ext cx="2215319" cy="92399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rtlCol="0" anchor="t">
                <a:spAutoFit/>
              </a:bodyPr>
              <a:lstStyle/>
              <a:p>
                <a:pPr marL="0" algn="l">
                  <a:defRPr/>
                </a:pPr>
                <a:r>
                  <a:rPr lang="en-US" dirty="0" smtClean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Submitted By: Mudassar Nazar &amp; </a:t>
                </a:r>
                <a:r>
                  <a:rPr lang="en-US" dirty="0" err="1" smtClean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Amjid</a:t>
                </a:r>
                <a:r>
                  <a:rPr lang="en-US" dirty="0" smtClean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 </a:t>
                </a:r>
                <a:r>
                  <a:rPr lang="en-US" dirty="0" err="1" smtClean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Wasim</a:t>
                </a:r>
                <a:endParaRPr lang="en-US" sz="1100" dirty="0"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5657504" y="4086359"/>
                <a:ext cx="2802026" cy="33878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l"/>
                <a:r>
                  <a:rPr lang="en-US" sz="1600" dirty="0" smtClean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Submitted To:</a:t>
                </a:r>
                <a:r>
                  <a:rPr lang="en-US" sz="1600" dirty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 </a:t>
                </a:r>
                <a:r>
                  <a:rPr lang="en-US" sz="1600" dirty="0" smtClean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Faisal Hafeez</a:t>
                </a:r>
                <a:endParaRPr lang="en-US" sz="1600" b="0" i="0" u="none" baseline="0" dirty="0">
                  <a:solidFill>
                    <a:schemeClr val="bg1"/>
                  </a:solidFill>
                  <a:latin typeface="思源黑体 Normal"/>
                  <a:ea typeface="思源黑体 Normal"/>
                </a:endParaRPr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3291" y="8072"/>
              <a:ext cx="558" cy="558"/>
            </a:xfrm>
            <a:prstGeom prst="ellipse">
              <a:avLst/>
            </a:prstGeom>
            <a:solidFill>
              <a:srgbClr val="E7C67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8171" y="8072"/>
              <a:ext cx="558" cy="558"/>
            </a:xfrm>
            <a:prstGeom prst="ellipse">
              <a:avLst/>
            </a:prstGeom>
            <a:solidFill>
              <a:srgbClr val="E7C67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44950" y="800100"/>
            <a:ext cx="41021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dist">
              <a:defRPr/>
            </a:pPr>
            <a:r>
              <a:rPr lang="en-US" sz="252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50465" y="1755140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Project Overview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43192" y="1755140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E7C671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558290" y="2362835"/>
            <a:ext cx="572135" cy="203200"/>
          </a:xfrm>
          <a:prstGeom prst="rect">
            <a:avLst/>
          </a:prstGeom>
          <a:noFill/>
          <a:ln>
            <a:solidFill>
              <a:srgbClr val="E7C67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7869555" y="1755140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Key Features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462282" y="1755140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E7C671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977380" y="2362835"/>
            <a:ext cx="572135" cy="203200"/>
          </a:xfrm>
          <a:prstGeom prst="rect">
            <a:avLst/>
          </a:prstGeom>
          <a:noFill/>
          <a:ln>
            <a:solidFill>
              <a:srgbClr val="E7C67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450465" y="2884805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How AI Works in This Project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043192" y="2884805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E7C671"/>
                </a:solidFill>
                <a:latin typeface="思源黑体 Normal"/>
                <a:ea typeface="思源黑体 Normal"/>
              </a:rPr>
              <a:t>03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558290" y="3492500"/>
            <a:ext cx="572135" cy="203200"/>
          </a:xfrm>
          <a:prstGeom prst="rect">
            <a:avLst/>
          </a:prstGeom>
          <a:noFill/>
          <a:ln>
            <a:solidFill>
              <a:srgbClr val="E7C67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869555" y="2884805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How to Use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462282" y="2884805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E7C671"/>
                </a:solidFill>
                <a:latin typeface="思源黑体 Normal"/>
                <a:ea typeface="思源黑体 Normal"/>
              </a:rPr>
              <a:t>04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977380" y="3492500"/>
            <a:ext cx="572135" cy="203200"/>
          </a:xfrm>
          <a:prstGeom prst="rect">
            <a:avLst/>
          </a:prstGeom>
          <a:noFill/>
          <a:ln>
            <a:solidFill>
              <a:srgbClr val="E7C67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2450465" y="3995420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Project Structure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043192" y="3995420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E7C671"/>
                </a:solidFill>
                <a:latin typeface="思源黑体 Normal"/>
                <a:ea typeface="思源黑体 Normal"/>
              </a:rPr>
              <a:t>05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558290" y="4603115"/>
            <a:ext cx="572135" cy="203200"/>
          </a:xfrm>
          <a:prstGeom prst="rect">
            <a:avLst/>
          </a:prstGeom>
          <a:noFill/>
          <a:ln>
            <a:solidFill>
              <a:srgbClr val="E7C67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7869555" y="3995420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Example Usage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462282" y="3995420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E7C671"/>
                </a:solidFill>
                <a:latin typeface="思源黑体 Normal"/>
                <a:ea typeface="思源黑体 Normal"/>
              </a:rPr>
              <a:t>06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977380" y="4603115"/>
            <a:ext cx="572135" cy="203200"/>
          </a:xfrm>
          <a:prstGeom prst="rect">
            <a:avLst/>
          </a:prstGeom>
          <a:noFill/>
          <a:ln>
            <a:solidFill>
              <a:srgbClr val="E7C67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2450465" y="5125085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Bias Detection Feature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43192" y="5125085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E7C671"/>
                </a:solidFill>
                <a:latin typeface="思源黑体 Normal"/>
                <a:ea typeface="思源黑体 Normal"/>
              </a:rPr>
              <a:t>07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558290" y="5732780"/>
            <a:ext cx="572135" cy="203200"/>
          </a:xfrm>
          <a:prstGeom prst="rect">
            <a:avLst/>
          </a:prstGeom>
          <a:noFill/>
          <a:ln>
            <a:solidFill>
              <a:srgbClr val="E7C67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7869555" y="5125085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Technical Details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462282" y="5125085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E7C671"/>
                </a:solidFill>
                <a:latin typeface="思源黑体 Normal"/>
                <a:ea typeface="思源黑体 Normal"/>
              </a:rPr>
              <a:t>08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977380" y="5732780"/>
            <a:ext cx="572135" cy="203200"/>
          </a:xfrm>
          <a:prstGeom prst="rect">
            <a:avLst/>
          </a:prstGeom>
          <a:noFill/>
          <a:ln>
            <a:solidFill>
              <a:srgbClr val="E7C67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84638" y="195897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rgbClr val="E7C671"/>
                </a:solidFill>
                <a:effectLst/>
                <a:latin typeface="思源黑体 Medium"/>
                <a:ea typeface="思源黑体 Medium"/>
              </a:rPr>
              <a:t>PART   01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789555" y="2865755"/>
            <a:ext cx="7068185" cy="20942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E7C671"/>
                </a:solidFill>
                <a:latin typeface="思源黑体 Medium"/>
                <a:ea typeface="思源黑体 Medium"/>
              </a:rPr>
              <a:t>Project Overview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81050" y="2128085"/>
            <a:ext cx="5435600" cy="182529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An AI-powered, professional-grade Resume Parser and Applicant Tracking System (ATS) built with a Next.js (</a:t>
            </a:r>
            <a:r>
              <a:rPr lang="en-US" sz="1400" dirty="0" err="1">
                <a:solidFill>
                  <a:schemeClr val="bg1"/>
                </a:solidFill>
              </a:rPr>
              <a:t>TypeScript</a:t>
            </a:r>
            <a:r>
              <a:rPr lang="en-US" sz="1400" dirty="0">
                <a:solidFill>
                  <a:schemeClr val="bg1"/>
                </a:solidFill>
              </a:rPr>
              <a:t>) frontend and </a:t>
            </a:r>
            <a:r>
              <a:rPr lang="en-US" sz="1400" dirty="0" err="1">
                <a:solidFill>
                  <a:schemeClr val="bg1"/>
                </a:solidFill>
              </a:rPr>
              <a:t>FastAPI</a:t>
            </a:r>
            <a:r>
              <a:rPr lang="en-US" sz="1400" dirty="0">
                <a:solidFill>
                  <a:schemeClr val="bg1"/>
                </a:solidFill>
              </a:rPr>
              <a:t> (Python) backend. The platform integrates </a:t>
            </a:r>
            <a:r>
              <a:rPr lang="en-US" sz="1400" dirty="0" err="1">
                <a:solidFill>
                  <a:schemeClr val="bg1"/>
                </a:solidFill>
              </a:rPr>
              <a:t>spaCy</a:t>
            </a:r>
            <a:r>
              <a:rPr lang="en-US" sz="1400" dirty="0">
                <a:solidFill>
                  <a:schemeClr val="bg1"/>
                </a:solidFill>
              </a:rPr>
              <a:t> NLP, </a:t>
            </a:r>
            <a:r>
              <a:rPr lang="en-US" sz="1400" dirty="0" err="1">
                <a:solidFill>
                  <a:schemeClr val="bg1"/>
                </a:solidFill>
              </a:rPr>
              <a:t>PyMuPDF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parsing to </a:t>
            </a:r>
            <a:r>
              <a:rPr lang="en-US" sz="1400" dirty="0">
                <a:solidFill>
                  <a:schemeClr val="bg1"/>
                </a:solidFill>
              </a:rPr>
              <a:t>extract candidate profiles, evaluate match scores against job descriptions, and deliver actionable career insights.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1050" y="168465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Project Goal and Technology Stack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1050" y="460137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 fontScale="92500"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The system features AI-powered skill extraction, multi-dimensional scoring, built-in bias detection, a modern responsive UI with theme toggle, and real-time candidate ranking. It ensures fair and efficient candidate evaluation through advanced algorithms.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5450" y="4267200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 dirty="0">
                <a:solidFill>
                  <a:srgbClr val="E7C671"/>
                </a:solidFill>
                <a:latin typeface="思源黑体 Normal"/>
                <a:ea typeface="思源黑体 Normal"/>
              </a:rPr>
              <a:t>Key AI Capabilities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System Introduction and Core Capabilities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sp>
        <p:nvSpPr>
          <p:cNvPr id="11" name="Rectangle 10"/>
          <p:cNvSpPr/>
          <p:nvPr/>
        </p:nvSpPr>
        <p:spPr>
          <a:xfrm>
            <a:off x="7086600" y="1371600"/>
            <a:ext cx="4140200" cy="43434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84638" y="195897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rgbClr val="E7C671"/>
                </a:solidFill>
                <a:effectLst/>
                <a:latin typeface="思源黑体 Medium"/>
                <a:ea typeface="思源黑体 Medium"/>
              </a:rPr>
              <a:t>PART   02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789555" y="2865755"/>
            <a:ext cx="7068185" cy="20942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E7C671"/>
                </a:solidFill>
                <a:latin typeface="思源黑体 Medium"/>
                <a:ea typeface="思源黑体 Medium"/>
              </a:rPr>
              <a:t>Key Features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700" y="1528982"/>
            <a:ext cx="10848976" cy="4549862"/>
            <a:chOff x="671512" y="1814732"/>
            <a:chExt cx="10848976" cy="4549862"/>
          </a:xfrm>
        </p:grpSpPr>
        <p:cxnSp>
          <p:nvCxnSpPr>
            <p:cNvPr id="3" name="Connector 3"/>
            <p:cNvCxnSpPr/>
            <p:nvPr/>
          </p:nvCxnSpPr>
          <p:spPr>
            <a:xfrm>
              <a:off x="6115050" y="4152949"/>
              <a:ext cx="0" cy="2211645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</p:cxnSp>
        <p:grpSp>
          <p:nvGrpSpPr>
            <p:cNvPr id="4" name="Group 4"/>
            <p:cNvGrpSpPr/>
            <p:nvPr/>
          </p:nvGrpSpPr>
          <p:grpSpPr>
            <a:xfrm>
              <a:off x="671512" y="1814732"/>
              <a:ext cx="10848976" cy="2177071"/>
              <a:chOff x="671512" y="1814732"/>
              <a:chExt cx="10848976" cy="2177071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71512" y="1814732"/>
                <a:ext cx="10848976" cy="1776193"/>
              </a:xfrm>
              <a:prstGeom prst="rect">
                <a:avLst/>
              </a:prstGeom>
              <a:blipFill rotWithShape="1">
                <a:blip r:embed="rId3"/>
                <a:stretch>
                  <a:fillRect l="7" t="-147894" r="-7" b="-147244"/>
                </a:stretch>
              </a:blipFill>
              <a:ln cap="flat" cmpd="sng">
                <a:noFill/>
                <a:prstDash val="solid"/>
                <a:miter lim="800000"/>
              </a:ln>
              <a:effectLst/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2829838" y="3156181"/>
                <a:ext cx="835622" cy="835622"/>
              </a:xfrm>
              <a:prstGeom prst="ellipse">
                <a:avLst/>
              </a:prstGeom>
              <a:solidFill>
                <a:srgbClr val="E7C671"/>
              </a:solidFill>
              <a:ln w="12700">
                <a:solidFill>
                  <a:srgbClr val="FFFFFF"/>
                </a:solidFill>
              </a:ln>
              <a:effectLst/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8590040" y="3156181"/>
              <a:ext cx="835622" cy="835622"/>
            </a:xfrm>
            <a:prstGeom prst="ellipse">
              <a:avLst/>
            </a:prstGeom>
            <a:solidFill>
              <a:srgbClr val="E7C671"/>
            </a:solidFill>
            <a:ln w="12700">
              <a:solidFill>
                <a:srgbClr val="FFFFFF"/>
              </a:solidFill>
            </a:ln>
            <a:effectLst/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06065" y="2943860"/>
            <a:ext cx="840740" cy="6794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2400" b="1" i="0" u="none" baseline="0">
                <a:solidFill>
                  <a:srgbClr val="FFFFFF"/>
                </a:solidFill>
                <a:latin typeface="思源黑体 Medium"/>
                <a:ea typeface="思源黑体 Medium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63610" y="2960370"/>
            <a:ext cx="838200" cy="6794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2400" b="1" i="0" u="none" baseline="0">
                <a:solidFill>
                  <a:srgbClr val="FFFFFF"/>
                </a:solidFill>
                <a:latin typeface="思源黑体 Medium"/>
                <a:ea typeface="思源黑体 Medium"/>
              </a:rPr>
              <a:t>02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775970" y="3756660"/>
            <a:ext cx="4896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88000"/>
              </a:lnSpc>
              <a:defRPr/>
            </a:pPr>
            <a:r>
              <a:rPr lang="en-US" sz="2000" b="1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Resume Upload and Skill Matching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75970" y="432181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Supports multiple resume uploads in PDF and DOCX formats. It uses NLP techniques for intelligent skill extraction and semantic matching between resumes and job descriptions, ensuring accurate candidate profiling.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1460" y="3756660"/>
            <a:ext cx="4896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88000"/>
              </a:lnSpc>
              <a:defRPr/>
            </a:pPr>
            <a:r>
              <a:rPr lang="en-US" sz="2000" b="1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Comprehensive Scoring System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1460" y="432181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Implements a multi-component scoring system evaluating skills, experience, education, and keywords. This provides a holistic view of candidate suitability based on job requirements.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Core Functionality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16" name="AutoShape 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2787" y="1479357"/>
            <a:ext cx="10804527" cy="2221736"/>
          </a:xfrm>
          <a:prstGeom prst="plaque">
            <a:avLst>
              <a:gd name="adj" fmla="val 9919"/>
            </a:avLst>
          </a:prstGeom>
          <a:solidFill>
            <a:srgbClr val="3A3021"/>
          </a:solidFill>
          <a:ln>
            <a:solidFill>
              <a:srgbClr val="E7C671"/>
            </a:solidFill>
          </a:ln>
          <a:effectLst>
            <a:outerShdw blurRad="190500" dist="127000" dir="2700000" sx="95000" sy="95000" algn="tl" rotWithShape="0">
              <a:schemeClr val="accent1">
                <a:alpha val="10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07430" y="1599407"/>
            <a:ext cx="10614821" cy="1982147"/>
          </a:xfrm>
          <a:prstGeom prst="plaque">
            <a:avLst>
              <a:gd name="adj" fmla="val 9919"/>
            </a:avLst>
          </a:prstGeom>
          <a:solidFill>
            <a:srgbClr val="3A3021"/>
          </a:solidFill>
          <a:ln>
            <a:solidFill>
              <a:schemeClr val="accent1">
                <a:alpha val="50000"/>
              </a:schemeClr>
            </a:solidFill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514596" y="1977979"/>
            <a:ext cx="0" cy="122436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</a:ln>
        </p:spPr>
      </p:cxnSp>
      <p:sp>
        <p:nvSpPr>
          <p:cNvPr id="5" name="AutoShape 5"/>
          <p:cNvSpPr/>
          <p:nvPr/>
        </p:nvSpPr>
        <p:spPr>
          <a:xfrm>
            <a:off x="712787" y="4041065"/>
            <a:ext cx="10804527" cy="2221736"/>
          </a:xfrm>
          <a:prstGeom prst="plaque">
            <a:avLst>
              <a:gd name="adj" fmla="val 9919"/>
            </a:avLst>
          </a:prstGeom>
          <a:solidFill>
            <a:srgbClr val="3A3021"/>
          </a:solidFill>
          <a:ln>
            <a:solidFill>
              <a:srgbClr val="E7C671"/>
            </a:solidFill>
          </a:ln>
          <a:effectLst>
            <a:outerShdw blurRad="190500" dist="127000" dir="2700000" sx="95000" sy="95000" algn="tl" rotWithShape="0">
              <a:schemeClr val="accent1">
                <a:alpha val="10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07430" y="4160481"/>
            <a:ext cx="10614821" cy="1982147"/>
          </a:xfrm>
          <a:prstGeom prst="plaque">
            <a:avLst>
              <a:gd name="adj" fmla="val 9919"/>
            </a:avLst>
          </a:prstGeom>
          <a:solidFill>
            <a:srgbClr val="3A3021"/>
          </a:solidFill>
          <a:ln>
            <a:solidFill>
              <a:srgbClr val="E7C671">
                <a:alpha val="50000"/>
              </a:srgbClr>
            </a:solidFill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7" name="Connector 7"/>
          <p:cNvCxnSpPr/>
          <p:nvPr/>
        </p:nvCxnSpPr>
        <p:spPr>
          <a:xfrm>
            <a:off x="3514596" y="4539687"/>
            <a:ext cx="0" cy="122436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</a:ln>
        </p:spPr>
      </p:cxnSp>
      <p:sp>
        <p:nvSpPr>
          <p:cNvPr id="8" name="TextBox 8"/>
          <p:cNvSpPr txBox="1"/>
          <p:nvPr/>
        </p:nvSpPr>
        <p:spPr>
          <a:xfrm>
            <a:off x="1047115" y="1820000"/>
            <a:ext cx="2160000" cy="14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Smart Recommendations and Role Suggestions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047115" y="4415155"/>
            <a:ext cx="2160000" cy="14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Bias Detection and Fairness Analysis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822065" y="1765935"/>
            <a:ext cx="7308215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Generates AI-driven candidate suitability messages and automatically suggests job titles based on skill profiles. It also offers personalized improvement suggestions for low-scoring candidates.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822065" y="4361090"/>
            <a:ext cx="7308215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Features advanced fairness analysis to identify potentially discriminatory ranking patterns, such as keyword bias, experience penalty, and education bias, promoting equitable hiring practices.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AI-Powered Features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14" name="AutoShape 1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63130" y="13335"/>
            <a:ext cx="4904740" cy="4784090"/>
          </a:xfrm>
          <a:custGeom>
            <a:avLst/>
            <a:gdLst/>
            <a:ahLst/>
            <a:cxnLst/>
            <a:rect l="l" t="t" r="r" b="b"/>
            <a:pathLst>
              <a:path w="7282" h="7266">
                <a:moveTo>
                  <a:pt x="2683" y="0"/>
                </a:moveTo>
                <a:lnTo>
                  <a:pt x="4825" y="0"/>
                </a:lnTo>
                <a:lnTo>
                  <a:pt x="4884" y="16"/>
                </a:lnTo>
                <a:cubicBezTo>
                  <a:pt x="5044" y="63"/>
                  <a:pt x="5198" y="119"/>
                  <a:pt x="5344" y="186"/>
                </a:cubicBezTo>
                <a:cubicBezTo>
                  <a:pt x="6210" y="581"/>
                  <a:pt x="6877" y="1326"/>
                  <a:pt x="7271" y="2109"/>
                </a:cubicBezTo>
                <a:lnTo>
                  <a:pt x="7282" y="2130"/>
                </a:lnTo>
                <a:lnTo>
                  <a:pt x="7282" y="5206"/>
                </a:lnTo>
                <a:lnTo>
                  <a:pt x="7278" y="5216"/>
                </a:lnTo>
                <a:cubicBezTo>
                  <a:pt x="7067" y="5689"/>
                  <a:pt x="6810" y="6030"/>
                  <a:pt x="6556" y="6282"/>
                </a:cubicBezTo>
                <a:cubicBezTo>
                  <a:pt x="6641" y="6311"/>
                  <a:pt x="6719" y="6358"/>
                  <a:pt x="6785" y="6419"/>
                </a:cubicBezTo>
                <a:cubicBezTo>
                  <a:pt x="6981" y="6607"/>
                  <a:pt x="6959" y="6891"/>
                  <a:pt x="6490" y="7105"/>
                </a:cubicBezTo>
                <a:cubicBezTo>
                  <a:pt x="6065" y="7297"/>
                  <a:pt x="5625" y="7201"/>
                  <a:pt x="5433" y="7003"/>
                </a:cubicBezTo>
                <a:lnTo>
                  <a:pt x="5433" y="7004"/>
                </a:lnTo>
                <a:cubicBezTo>
                  <a:pt x="4014" y="7559"/>
                  <a:pt x="1945" y="7223"/>
                  <a:pt x="1006" y="6087"/>
                </a:cubicBezTo>
                <a:cubicBezTo>
                  <a:pt x="-531" y="4229"/>
                  <a:pt x="-260" y="2047"/>
                  <a:pt x="1502" y="590"/>
                </a:cubicBezTo>
                <a:cubicBezTo>
                  <a:pt x="1828" y="320"/>
                  <a:pt x="2228" y="126"/>
                  <a:pt x="2659" y="6"/>
                </a:cubicBezTo>
                <a:lnTo>
                  <a:pt x="2683" y="0"/>
                </a:lnTo>
                <a:close/>
              </a:path>
            </a:pathLst>
          </a:custGeom>
          <a:noFill/>
          <a:ln w="22225">
            <a:solidFill>
              <a:srgbClr val="E7C671"/>
            </a:solidFill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7306310" y="89535"/>
            <a:ext cx="4832350" cy="4712970"/>
          </a:xfrm>
          <a:custGeom>
            <a:avLst/>
            <a:gdLst/>
            <a:ahLst/>
            <a:cxnLst/>
            <a:rect l="l" t="t" r="r" b="b"/>
            <a:pathLst>
              <a:path w="7282" h="7266">
                <a:moveTo>
                  <a:pt x="2683" y="0"/>
                </a:moveTo>
                <a:lnTo>
                  <a:pt x="4825" y="0"/>
                </a:lnTo>
                <a:lnTo>
                  <a:pt x="4884" y="16"/>
                </a:lnTo>
                <a:cubicBezTo>
                  <a:pt x="5044" y="63"/>
                  <a:pt x="5198" y="119"/>
                  <a:pt x="5344" y="186"/>
                </a:cubicBezTo>
                <a:cubicBezTo>
                  <a:pt x="6210" y="581"/>
                  <a:pt x="6877" y="1326"/>
                  <a:pt x="7271" y="2109"/>
                </a:cubicBezTo>
                <a:lnTo>
                  <a:pt x="7282" y="2130"/>
                </a:lnTo>
                <a:lnTo>
                  <a:pt x="7282" y="5206"/>
                </a:lnTo>
                <a:lnTo>
                  <a:pt x="7278" y="5216"/>
                </a:lnTo>
                <a:cubicBezTo>
                  <a:pt x="7067" y="5689"/>
                  <a:pt x="6810" y="6030"/>
                  <a:pt x="6556" y="6282"/>
                </a:cubicBezTo>
                <a:cubicBezTo>
                  <a:pt x="6641" y="6311"/>
                  <a:pt x="6719" y="6358"/>
                  <a:pt x="6785" y="6419"/>
                </a:cubicBezTo>
                <a:cubicBezTo>
                  <a:pt x="6981" y="6607"/>
                  <a:pt x="6959" y="6891"/>
                  <a:pt x="6490" y="7105"/>
                </a:cubicBezTo>
                <a:cubicBezTo>
                  <a:pt x="6065" y="7297"/>
                  <a:pt x="5625" y="7201"/>
                  <a:pt x="5433" y="7003"/>
                </a:cubicBezTo>
                <a:lnTo>
                  <a:pt x="5433" y="7004"/>
                </a:lnTo>
                <a:cubicBezTo>
                  <a:pt x="4014" y="7559"/>
                  <a:pt x="1945" y="7223"/>
                  <a:pt x="1006" y="6087"/>
                </a:cubicBezTo>
                <a:cubicBezTo>
                  <a:pt x="-531" y="4229"/>
                  <a:pt x="-260" y="2047"/>
                  <a:pt x="1502" y="590"/>
                </a:cubicBezTo>
                <a:cubicBezTo>
                  <a:pt x="1828" y="320"/>
                  <a:pt x="2228" y="126"/>
                  <a:pt x="2659" y="6"/>
                </a:cubicBezTo>
                <a:lnTo>
                  <a:pt x="2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pic>
        <p:nvPicPr>
          <p:cNvPr id="4" name="image78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-6393"/>
            <a:ext cx="5103935" cy="4880018"/>
          </a:xfrm>
          <a:custGeom>
            <a:avLst/>
            <a:gdLst/>
            <a:ahLst/>
            <a:cxnLst/>
            <a:rect l="0" t="0" r="0" b="0"/>
            <a:pathLst>
              <a:path w="6968" h="6953">
                <a:moveTo>
                  <a:pt x="2567" y="0"/>
                </a:moveTo>
                <a:lnTo>
                  <a:pt x="4617" y="0"/>
                </a:lnTo>
                <a:lnTo>
                  <a:pt x="4673" y="15"/>
                </a:lnTo>
                <a:cubicBezTo>
                  <a:pt x="4826" y="60"/>
                  <a:pt x="4974" y="114"/>
                  <a:pt x="5113" y="178"/>
                </a:cubicBezTo>
                <a:cubicBezTo>
                  <a:pt x="5942" y="556"/>
                  <a:pt x="6580" y="1269"/>
                  <a:pt x="6957" y="2018"/>
                </a:cubicBezTo>
                <a:lnTo>
                  <a:pt x="6968" y="2038"/>
                </a:lnTo>
                <a:lnTo>
                  <a:pt x="6968" y="4982"/>
                </a:lnTo>
                <a:lnTo>
                  <a:pt x="6964" y="4991"/>
                </a:lnTo>
                <a:cubicBezTo>
                  <a:pt x="6762" y="5444"/>
                  <a:pt x="6516" y="5770"/>
                  <a:pt x="6273" y="6011"/>
                </a:cubicBezTo>
                <a:cubicBezTo>
                  <a:pt x="6354" y="6039"/>
                  <a:pt x="6429" y="6084"/>
                  <a:pt x="6492" y="6142"/>
                </a:cubicBezTo>
                <a:cubicBezTo>
                  <a:pt x="6680" y="6322"/>
                  <a:pt x="6659" y="6594"/>
                  <a:pt x="6210" y="6799"/>
                </a:cubicBezTo>
                <a:cubicBezTo>
                  <a:pt x="5803" y="6983"/>
                  <a:pt x="5382" y="6891"/>
                  <a:pt x="5199" y="6701"/>
                </a:cubicBezTo>
                <a:lnTo>
                  <a:pt x="5199" y="6702"/>
                </a:lnTo>
                <a:cubicBezTo>
                  <a:pt x="3841" y="7233"/>
                  <a:pt x="1861" y="6912"/>
                  <a:pt x="962" y="5825"/>
                </a:cubicBezTo>
                <a:cubicBezTo>
                  <a:pt x="-508" y="4047"/>
                  <a:pt x="-249" y="1959"/>
                  <a:pt x="1437" y="565"/>
                </a:cubicBezTo>
                <a:cubicBezTo>
                  <a:pt x="1749" y="306"/>
                  <a:pt x="2132" y="121"/>
                  <a:pt x="2544" y="6"/>
                </a:cubicBezTo>
                <a:lnTo>
                  <a:pt x="2567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</a:ln>
        </p:spPr>
      </p:pic>
      <p:sp>
        <p:nvSpPr>
          <p:cNvPr id="5" name="Freeform 5"/>
          <p:cNvSpPr/>
          <p:nvPr/>
        </p:nvSpPr>
        <p:spPr>
          <a:xfrm>
            <a:off x="11803380" y="5060950"/>
            <a:ext cx="402590" cy="380365"/>
          </a:xfrm>
          <a:custGeom>
            <a:avLst/>
            <a:gdLst/>
            <a:ahLst/>
            <a:cxnLst/>
            <a:rect l="l" t="t" r="r" b="b"/>
            <a:pathLst>
              <a:path w="369050" h="356887">
                <a:moveTo>
                  <a:pt x="206400" y="226"/>
                </a:moveTo>
                <a:cubicBezTo>
                  <a:pt x="232796" y="-1058"/>
                  <a:pt x="260778" y="3088"/>
                  <a:pt x="289760" y="14067"/>
                </a:cubicBezTo>
                <a:cubicBezTo>
                  <a:pt x="473899" y="84477"/>
                  <a:pt x="308602" y="423547"/>
                  <a:pt x="86879" y="345218"/>
                </a:cubicBezTo>
                <a:cubicBezTo>
                  <a:pt x="-85361" y="284346"/>
                  <a:pt x="21634" y="9218"/>
                  <a:pt x="206400" y="226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1753850" y="5060950"/>
            <a:ext cx="402590" cy="380365"/>
          </a:xfrm>
          <a:custGeom>
            <a:avLst/>
            <a:gdLst/>
            <a:ahLst/>
            <a:cxnLst/>
            <a:rect l="l" t="t" r="r" b="b"/>
            <a:pathLst>
              <a:path w="369050" h="356887">
                <a:moveTo>
                  <a:pt x="206400" y="226"/>
                </a:moveTo>
                <a:cubicBezTo>
                  <a:pt x="232796" y="-1058"/>
                  <a:pt x="260778" y="3088"/>
                  <a:pt x="289760" y="14067"/>
                </a:cubicBezTo>
                <a:cubicBezTo>
                  <a:pt x="473899" y="84477"/>
                  <a:pt x="308602" y="423547"/>
                  <a:pt x="86879" y="345218"/>
                </a:cubicBezTo>
                <a:cubicBezTo>
                  <a:pt x="-85361" y="284346"/>
                  <a:pt x="21634" y="9218"/>
                  <a:pt x="206400" y="226"/>
                </a:cubicBezTo>
                <a:close/>
              </a:path>
            </a:pathLst>
          </a:custGeom>
          <a:noFill/>
          <a:ln w="19050" cap="flat">
            <a:solidFill>
              <a:srgbClr val="E7C671"/>
            </a:solidFill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9815" y="2402205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Offers a clean, responsive interface with candidate cards, light/dark theme toggle, and instant analysis and ranking display. It provides detailed insights including score breakdowns and improvement suggestions.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059815" y="1862455"/>
            <a:ext cx="504000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Modern UI and Real-Time Results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User Experience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17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84638" y="195897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rgbClr val="E7C671"/>
                </a:solidFill>
                <a:effectLst/>
                <a:latin typeface="思源黑体 Medium"/>
                <a:ea typeface="思源黑体 Medium"/>
              </a:rPr>
              <a:t>PART   03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789555" y="2865755"/>
            <a:ext cx="7068185" cy="20942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E7C671"/>
                </a:solidFill>
                <a:latin typeface="思源黑体 Medium"/>
                <a:ea typeface="思源黑体 Medium"/>
              </a:rPr>
              <a:t>How AI Works in This Project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2700000">
            <a:off x="10765790" y="5950585"/>
            <a:ext cx="492760" cy="492760"/>
          </a:xfrm>
          <a:prstGeom prst="rect">
            <a:avLst/>
          </a:prstGeom>
          <a:gradFill>
            <a:gsLst>
              <a:gs pos="0">
                <a:schemeClr val="accent3">
                  <a:lumMod val="25000"/>
                  <a:lumOff val="75000"/>
                </a:schemeClr>
              </a:gs>
              <a:gs pos="50000">
                <a:schemeClr val="accent3"/>
              </a:gs>
              <a:gs pos="100000">
                <a:schemeClr val="accent3">
                  <a:lumMod val="85000"/>
                </a:schemeClr>
              </a:gs>
            </a:gsLst>
            <a:lin ang="54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 rot="2700000">
            <a:off x="7295193" y="912715"/>
            <a:ext cx="1193632" cy="1193632"/>
          </a:xfrm>
          <a:prstGeom prst="rect">
            <a:avLst/>
          </a:prstGeom>
          <a:gradFill>
            <a:gsLst>
              <a:gs pos="0">
                <a:schemeClr val="accent2">
                  <a:lumMod val="25000"/>
                  <a:lumOff val="75000"/>
                </a:schemeClr>
              </a:gs>
              <a:gs pos="50000">
                <a:schemeClr val="accent2"/>
              </a:gs>
              <a:gs pos="100000">
                <a:schemeClr val="accent2">
                  <a:lumMod val="85000"/>
                </a:schemeClr>
              </a:gs>
            </a:gsLst>
            <a:lin ang="54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4" name="image75.jpe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624" y="2188877"/>
            <a:ext cx="5267481" cy="2650887"/>
          </a:xfrm>
          <a:custGeom>
            <a:avLst/>
            <a:gdLst/>
            <a:ahLst/>
            <a:cxnLst/>
            <a:rect l="0" t="0" r="0" b="0"/>
            <a:pathLst>
              <a:path w="5267481" h="6843717">
                <a:moveTo>
                  <a:pt x="2404584" y="4158172"/>
                </a:moveTo>
                <a:lnTo>
                  <a:pt x="3951434" y="5705021"/>
                </a:lnTo>
                <a:lnTo>
                  <a:pt x="2812737" y="6843717"/>
                </a:lnTo>
                <a:lnTo>
                  <a:pt x="1996432" y="6843717"/>
                </a:lnTo>
                <a:lnTo>
                  <a:pt x="857735" y="5705021"/>
                </a:lnTo>
                <a:close/>
                <a:moveTo>
                  <a:pt x="1114899" y="2948647"/>
                </a:moveTo>
                <a:lnTo>
                  <a:pt x="2229798" y="4063546"/>
                </a:lnTo>
                <a:lnTo>
                  <a:pt x="1114899" y="5178445"/>
                </a:lnTo>
                <a:lnTo>
                  <a:pt x="0" y="4063546"/>
                </a:lnTo>
                <a:close/>
                <a:moveTo>
                  <a:pt x="3778600" y="0"/>
                </a:moveTo>
                <a:lnTo>
                  <a:pt x="4460202" y="0"/>
                </a:lnTo>
                <a:lnTo>
                  <a:pt x="5267481" y="807279"/>
                </a:lnTo>
                <a:lnTo>
                  <a:pt x="5267481" y="4384207"/>
                </a:lnTo>
                <a:lnTo>
                  <a:pt x="4119401" y="5532287"/>
                </a:lnTo>
                <a:lnTo>
                  <a:pt x="1182857" y="2595743"/>
                </a:lnTo>
                <a:close/>
              </a:path>
            </a:pathLst>
          </a:cu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6" name="TextBox 6"/>
          <p:cNvSpPr txBox="1"/>
          <p:nvPr/>
        </p:nvSpPr>
        <p:spPr>
          <a:xfrm>
            <a:off x="788084" y="2352992"/>
            <a:ext cx="5731597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Uses exact matches, word boundary detection, and skill synonym recognition to handle variations like "Python programming" ↔ "Python developer". It performs case-insensitive matching with intelligent filtering for accuracy.</a:t>
            </a:r>
            <a:endParaRPr lang="en-US" sz="1100" dirty="0"/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9" name="TextBox 9"/>
          <p:cNvSpPr txBox="1"/>
          <p:nvPr/>
        </p:nvSpPr>
        <p:spPr>
          <a:xfrm>
            <a:off x="1012924" y="342919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Skill Extraction and Matching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3)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32989"/>
            <a:ext cx="8546995" cy="3514016"/>
          </a:xfrm>
          <a:prstGeom prst="rect">
            <a:avLst/>
          </a:prstGeom>
          <a:solidFill>
            <a:srgbClr val="3A3021"/>
          </a:solidFill>
          <a:ln>
            <a:noFill/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33409" y="2514600"/>
            <a:ext cx="6480175" cy="18332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35000"/>
              </a:lnSpc>
              <a:defRPr/>
            </a:pPr>
            <a:r>
              <a:rPr lang="en-US" sz="16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Applies a custom weighted scoring formula: Skills Match (60%), Experience Evaluation (20%), Education Detection (10%), and Job Description Overlap (10%). This prioritizes skills as the primary factor in candidate ranking.</a:t>
            </a:r>
            <a:endParaRPr lang="en-US" sz="1100" dirty="0"/>
          </a:p>
        </p:txBody>
      </p:sp>
      <p:sp>
        <p:nvSpPr>
          <p:cNvPr id="6" name="Freeform 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7" name="TextBox 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Intelligent Scoring Algorithm</a:t>
            </a:r>
            <a:endParaRPr lang="en-US" sz="1100" dirty="0"/>
          </a:p>
        </p:txBody>
      </p:sp>
      <p:pic>
        <p:nvPicPr>
          <p:cNvPr id="8" name="image71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212" y="1038860"/>
            <a:ext cx="4291788" cy="5029200"/>
          </a:xfrm>
          <a:prstGeom prst="rect">
            <a:avLst/>
          </a:pr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0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513" y="2209800"/>
            <a:ext cx="3084186" cy="3912671"/>
          </a:xfrm>
          <a:custGeom>
            <a:avLst/>
            <a:gdLst/>
            <a:ahLst/>
            <a:cxnLst/>
            <a:rect l="0" t="0" r="0" b="0"/>
            <a:pathLst>
              <a:path w="5467" h="7035">
                <a:moveTo>
                  <a:pt x="2734" y="0"/>
                </a:moveTo>
                <a:cubicBezTo>
                  <a:pt x="4243" y="0"/>
                  <a:pt x="5467" y="1224"/>
                  <a:pt x="5467" y="2734"/>
                </a:cubicBezTo>
                <a:lnTo>
                  <a:pt x="5467" y="7035"/>
                </a:lnTo>
                <a:lnTo>
                  <a:pt x="0" y="7035"/>
                </a:lnTo>
                <a:lnTo>
                  <a:pt x="0" y="2734"/>
                </a:lnTo>
                <a:cubicBezTo>
                  <a:pt x="0" y="1224"/>
                  <a:pt x="1224" y="0"/>
                  <a:pt x="2734" y="0"/>
                </a:cubicBezTo>
                <a:close/>
              </a:path>
            </a:pathLst>
          </a:custGeom>
        </p:spPr>
      </p:pic>
      <p:sp>
        <p:nvSpPr>
          <p:cNvPr id="3" name="AutoShape 3"/>
          <p:cNvSpPr/>
          <p:nvPr/>
        </p:nvSpPr>
        <p:spPr>
          <a:xfrm>
            <a:off x="1170072" y="3569816"/>
            <a:ext cx="520155" cy="2583135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62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553710" y="2604135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Utilizes `sentence-transformers` for deep semantic understanding as the primary method, with TF-IDF vectorization as a fallback for keyword-based similarity. It compares meaning between job descriptions and resume content.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5553710" y="2064385"/>
            <a:ext cx="504000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Primary and Fallback Methods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7" name="TextBox 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Semantic Similarity Analysis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392245" y="3858579"/>
            <a:ext cx="2497775" cy="2497775"/>
          </a:xfrm>
          <a:prstGeom prst="ellipse">
            <a:avLst/>
          </a:prstGeom>
          <a:solidFill>
            <a:srgbClr val="E7C67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787829" y="1054108"/>
            <a:ext cx="4794241" cy="479424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4" name="image65.jpe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274" y="1420873"/>
            <a:ext cx="4676776" cy="3878058"/>
          </a:xfrm>
          <a:custGeom>
            <a:avLst/>
            <a:gdLst/>
            <a:ahLst/>
            <a:cxnLst/>
            <a:rect l="0" t="0" r="0" b="0"/>
            <a:pathLst>
              <a:path w="4676776" h="4676776">
                <a:moveTo>
                  <a:pt x="2338388" y="0"/>
                </a:moveTo>
                <a:cubicBezTo>
                  <a:pt x="3629844" y="0"/>
                  <a:pt x="4676776" y="1046932"/>
                  <a:pt x="4676776" y="2338388"/>
                </a:cubicBezTo>
                <a:cubicBezTo>
                  <a:pt x="4676776" y="3629844"/>
                  <a:pt x="3629844" y="4676776"/>
                  <a:pt x="2338388" y="4676776"/>
                </a:cubicBezTo>
                <a:cubicBezTo>
                  <a:pt x="1046932" y="4676776"/>
                  <a:pt x="0" y="3629844"/>
                  <a:pt x="0" y="2338388"/>
                </a:cubicBezTo>
                <a:cubicBezTo>
                  <a:pt x="0" y="1046932"/>
                  <a:pt x="1046932" y="0"/>
                  <a:pt x="2338388" y="0"/>
                </a:cubicBezTo>
                <a:close/>
              </a:path>
            </a:pathLst>
          </a:custGeom>
          <a:ln w="9525" cap="flat" cmpd="sng">
            <a:solidFill>
              <a:schemeClr val="accent1">
                <a:alpha val="50000"/>
              </a:schemeClr>
            </a:solidFill>
            <a:prstDash val="solid"/>
          </a:ln>
        </p:spPr>
      </p:pic>
      <p:grpSp>
        <p:nvGrpSpPr>
          <p:cNvPr id="5" name="Group 5"/>
          <p:cNvGrpSpPr/>
          <p:nvPr/>
        </p:nvGrpSpPr>
        <p:grpSpPr>
          <a:xfrm>
            <a:off x="825500" y="1906273"/>
            <a:ext cx="5425440" cy="3413760"/>
            <a:chOff x="1475" y="3596"/>
            <a:chExt cx="8544" cy="5376"/>
          </a:xfrm>
        </p:grpSpPr>
        <p:sp>
          <p:nvSpPr>
            <p:cNvPr id="6" name="TextBox 6"/>
            <p:cNvSpPr txBox="1"/>
            <p:nvPr/>
          </p:nvSpPr>
          <p:spPr>
            <a:xfrm>
              <a:off x="1475" y="4446"/>
              <a:ext cx="8544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1"/>
                  </a:solidFill>
                  <a:latin typeface="思源黑体 Normal"/>
                  <a:ea typeface="思源黑体 Normal"/>
                </a:rPr>
                <a:t>Identifies keyword bias, experience penalty, education bias, and keyword stuffing through statistical analysis, outlier detection, and pattern recognition to ensure fair ranking.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75" y="3596"/>
              <a:ext cx="8544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7C671"/>
                  </a:solidFill>
                  <a:latin typeface="思源黑体 Normal"/>
                  <a:ea typeface="思源黑体 Normal"/>
                </a:rPr>
                <a:t>Anomaly Detection for Unfair Patterns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Bias Detection and Fairness Analysis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08140" y="2020253"/>
            <a:ext cx="4356100" cy="3577590"/>
            <a:chOff x="10564" y="3371"/>
            <a:chExt cx="6860" cy="5634"/>
          </a:xfrm>
        </p:grpSpPr>
        <p:pic>
          <p:nvPicPr>
            <p:cNvPr id="3" name="image77.png"/>
            <p:cNvPicPr>
              <a:picLocks noChangeAspect="1"/>
            </p:cNvPicPr>
            <p:nvPr/>
          </p:nvPicPr>
          <p:blipFill rotWithShape="1">
            <a:blip r:embed="rId3"/>
            <a:srcRect l="-1" r="-728"/>
            <a:stretch>
              <a:fillRect/>
            </a:stretch>
          </p:blipFill>
          <p:spPr>
            <a:xfrm>
              <a:off x="10564" y="3371"/>
              <a:ext cx="6860" cy="5634"/>
            </a:xfrm>
            <a:prstGeom prst="rect">
              <a:avLst/>
            </a:prstGeom>
            <a:ln cap="flat" cmpd="sng">
              <a:noFill/>
              <a:prstDash val="solid"/>
            </a:ln>
          </p:spPr>
        </p:pic>
        <p:pic>
          <p:nvPicPr>
            <p:cNvPr id="4" name="image69.jpe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64" y="3500"/>
              <a:ext cx="6860" cy="3769"/>
            </a:xfrm>
            <a:prstGeom prst="rect">
              <a:avLst/>
            </a:prstGeom>
            <a:ln w="9525" cap="flat" cmpd="sng">
              <a:solidFill>
                <a:schemeClr val="dk1">
                  <a:alpha val="50000"/>
                  <a:lumMod val="40000"/>
                  <a:lumOff val="60000"/>
                </a:schemeClr>
              </a:solidFill>
              <a:prstDash val="solid"/>
            </a:ln>
          </p:spPr>
        </p:pic>
      </p:grpSp>
      <p:grpSp>
        <p:nvGrpSpPr>
          <p:cNvPr id="5" name="Group 5"/>
          <p:cNvGrpSpPr/>
          <p:nvPr/>
        </p:nvGrpSpPr>
        <p:grpSpPr>
          <a:xfrm>
            <a:off x="1146175" y="2102168"/>
            <a:ext cx="5039360" cy="3413760"/>
            <a:chOff x="1805" y="3251"/>
            <a:chExt cx="7936" cy="5376"/>
          </a:xfrm>
        </p:grpSpPr>
        <p:sp>
          <p:nvSpPr>
            <p:cNvPr id="6" name="TextBox 6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1"/>
                  </a:solidFill>
                  <a:latin typeface="思源黑体 Normal"/>
                  <a:ea typeface="思源黑体 Normal"/>
                </a:rPr>
                <a:t>Generates contextual candidate suitability messages, suggests appropriate job roles based on skill combinations, and provides actionable resume improvement suggestions for better outcomes.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7C671"/>
                  </a:solidFill>
                  <a:latin typeface="思源黑体 Normal"/>
                  <a:ea typeface="思源黑体 Normal"/>
                </a:rPr>
                <a:t>Contextual Messaging and Suggestions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AI Recommendations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84638" y="195897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rgbClr val="E7C671"/>
                </a:solidFill>
                <a:effectLst/>
                <a:latin typeface="思源黑体 Medium"/>
                <a:ea typeface="思源黑体 Medium"/>
              </a:rPr>
              <a:t>PART   04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789555" y="2865755"/>
            <a:ext cx="7068185" cy="20942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E7C671"/>
                </a:solidFill>
                <a:latin typeface="思源黑体 Medium"/>
                <a:ea typeface="思源黑体 Medium"/>
              </a:rPr>
              <a:t>How to Use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97511">
            <a:off x="7518101" y="3076646"/>
            <a:ext cx="4547187" cy="2296043"/>
          </a:xfrm>
          <a:custGeom>
            <a:avLst/>
            <a:gdLst/>
            <a:ahLst/>
            <a:cxnLst/>
            <a:rect l="l" t="t" r="r" b="b"/>
            <a:pathLst>
              <a:path w="2249936" h="1136076">
                <a:moveTo>
                  <a:pt x="58" y="1136076"/>
                </a:moveTo>
                <a:cubicBezTo>
                  <a:pt x="-6169" y="514639"/>
                  <a:pt x="492725" y="6031"/>
                  <a:pt x="1113913" y="53"/>
                </a:cubicBezTo>
                <a:cubicBezTo>
                  <a:pt x="1735102" y="-5925"/>
                  <a:pt x="2243959" y="492720"/>
                  <a:pt x="2249937" y="1113909"/>
                </a:cubicBezTo>
              </a:path>
            </a:pathLst>
          </a:custGeom>
          <a:noFill/>
          <a:ln w="9525" cap="flat">
            <a:solidFill>
              <a:schemeClr val="accent1"/>
            </a:solidFill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3" name="AutoShape 3"/>
          <p:cNvSpPr/>
          <p:nvPr/>
        </p:nvSpPr>
        <p:spPr>
          <a:xfrm rot="20405484">
            <a:off x="7361315" y="5194202"/>
            <a:ext cx="240930" cy="240930"/>
          </a:xfrm>
          <a:prstGeom prst="ellipse">
            <a:avLst/>
          </a:prstGeom>
          <a:gradFill>
            <a:gsLst>
              <a:gs pos="0">
                <a:schemeClr val="accent1">
                  <a:lumMod val="25000"/>
                  <a:lumOff val="75000"/>
                </a:schemeClr>
              </a:gs>
              <a:gs pos="50000">
                <a:schemeClr val="accent1"/>
              </a:gs>
              <a:gs pos="100000">
                <a:schemeClr val="accent1">
                  <a:lumMod val="85000"/>
                </a:schemeClr>
              </a:gs>
            </a:gsLst>
            <a:lin ang="54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 rot="20405484">
            <a:off x="10230193" y="1655872"/>
            <a:ext cx="167489" cy="167489"/>
          </a:xfrm>
          <a:prstGeom prst="ellipse">
            <a:avLst/>
          </a:prstGeom>
          <a:gradFill>
            <a:gsLst>
              <a:gs pos="0">
                <a:schemeClr val="accent1">
                  <a:lumMod val="25000"/>
                  <a:lumOff val="75000"/>
                </a:schemeClr>
              </a:gs>
              <a:gs pos="50000">
                <a:schemeClr val="accent1"/>
              </a:gs>
              <a:gs pos="100000">
                <a:schemeClr val="accent1">
                  <a:lumMod val="85000"/>
                </a:schemeClr>
              </a:gs>
            </a:gsLst>
            <a:lin ang="54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172573" y="771847"/>
            <a:ext cx="5538415" cy="5538415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6" name="image70.jpe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483" y="1943326"/>
            <a:ext cx="3624483" cy="2738571"/>
          </a:xfrm>
          <a:custGeom>
            <a:avLst/>
            <a:gdLst/>
            <a:ahLst/>
            <a:cxnLst/>
            <a:rect l="0" t="0" r="0" b="0"/>
            <a:pathLst>
              <a:path w="5263" h="5263">
                <a:moveTo>
                  <a:pt x="2631" y="0"/>
                </a:moveTo>
                <a:cubicBezTo>
                  <a:pt x="4085" y="0"/>
                  <a:pt x="5263" y="1178"/>
                  <a:pt x="5263" y="2631"/>
                </a:cubicBezTo>
                <a:cubicBezTo>
                  <a:pt x="5263" y="4085"/>
                  <a:pt x="4085" y="5263"/>
                  <a:pt x="2631" y="5263"/>
                </a:cubicBezTo>
                <a:cubicBezTo>
                  <a:pt x="1178" y="5263"/>
                  <a:pt x="0" y="4085"/>
                  <a:pt x="0" y="2631"/>
                </a:cubicBezTo>
                <a:cubicBezTo>
                  <a:pt x="0" y="1178"/>
                  <a:pt x="1178" y="0"/>
                  <a:pt x="2631" y="0"/>
                </a:cubicBezTo>
                <a:close/>
              </a:path>
            </a:pathLst>
          </a:custGeom>
          <a:ln w="6350">
            <a:solidFill>
              <a:schemeClr val="tx1">
                <a:alpha val="20000"/>
                <a:lumMod val="40000"/>
                <a:lumOff val="60000"/>
              </a:schemeClr>
            </a:solidFill>
          </a:ln>
        </p:spPr>
      </p:pic>
      <p:sp>
        <p:nvSpPr>
          <p:cNvPr id="7" name="AutoShape 7"/>
          <p:cNvSpPr/>
          <p:nvPr/>
        </p:nvSpPr>
        <p:spPr>
          <a:xfrm>
            <a:off x="10771929" y="5468954"/>
            <a:ext cx="167489" cy="167489"/>
          </a:xfrm>
          <a:prstGeom prst="ellipse">
            <a:avLst/>
          </a:prstGeom>
          <a:gradFill>
            <a:gsLst>
              <a:gs pos="0">
                <a:schemeClr val="accent1">
                  <a:lumMod val="25000"/>
                  <a:lumOff val="75000"/>
                </a:schemeClr>
              </a:gs>
              <a:gs pos="50000">
                <a:schemeClr val="accent1"/>
              </a:gs>
              <a:gs pos="100000">
                <a:schemeClr val="accent1">
                  <a:lumMod val="85000"/>
                </a:schemeClr>
              </a:gs>
            </a:gsLst>
            <a:lin ang="54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828040" y="1834175"/>
            <a:ext cx="5039360" cy="3413760"/>
            <a:chOff x="1304" y="2888"/>
            <a:chExt cx="7936" cy="5376"/>
          </a:xfrm>
        </p:grpSpPr>
        <p:sp>
          <p:nvSpPr>
            <p:cNvPr id="9" name="TextBox 9"/>
            <p:cNvSpPr txBox="1"/>
            <p:nvPr/>
          </p:nvSpPr>
          <p:spPr>
            <a:xfrm>
              <a:off x="1304" y="3738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1"/>
                  </a:solidFill>
                  <a:latin typeface="思源黑体 Normal"/>
                  <a:ea typeface="思源黑体 Normal"/>
                </a:rPr>
                <a:t>Enter the complete job description in the first text area, list required skills separated by commas, upload multiple PDF or DOCX resume files, set the approval threshold (default: 70%), and click "Analyze &amp; Rank Candidates" to process.</a:t>
              </a:r>
              <a:endParaRPr lang="en-US" sz="11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04" y="2888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7C671"/>
                  </a:solidFill>
                  <a:latin typeface="思源黑体 Normal"/>
                  <a:ea typeface="思源黑体 Normal"/>
                </a:rPr>
                <a:t>Step-by-Step Process</a:t>
              </a:r>
              <a:endParaRPr lang="en-US" sz="110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Basic Workflow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538384" y="1497281"/>
            <a:ext cx="582202" cy="582202"/>
          </a:xfrm>
          <a:prstGeom prst="ellipse">
            <a:avLst/>
          </a:prstGeom>
          <a:gradFill>
            <a:gsLst>
              <a:gs pos="0">
                <a:schemeClr val="accent6">
                  <a:lumMod val="25000"/>
                  <a:lumOff val="75000"/>
                </a:schemeClr>
              </a:gs>
              <a:gs pos="50000">
                <a:schemeClr val="accent6"/>
              </a:gs>
              <a:gs pos="100000">
                <a:schemeClr val="accent6">
                  <a:lumMod val="85000"/>
                </a:schemeClr>
              </a:gs>
            </a:gsLst>
            <a:lin ang="54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588930">
            <a:off x="6540336" y="1806132"/>
            <a:ext cx="4409684" cy="4328265"/>
          </a:xfrm>
          <a:custGeom>
            <a:avLst/>
            <a:gdLst/>
            <a:ahLst/>
            <a:cxnLst/>
            <a:rect l="l" t="t" r="r" b="b"/>
            <a:pathLst>
              <a:path w="2879096" h="2825937">
                <a:moveTo>
                  <a:pt x="155801" y="656522"/>
                </a:moveTo>
                <a:cubicBezTo>
                  <a:pt x="280483" y="472785"/>
                  <a:pt x="506988" y="388965"/>
                  <a:pt x="723967" y="435637"/>
                </a:cubicBezTo>
                <a:cubicBezTo>
                  <a:pt x="907228" y="475071"/>
                  <a:pt x="1281656" y="484786"/>
                  <a:pt x="1725140" y="102453"/>
                </a:cubicBezTo>
                <a:cubicBezTo>
                  <a:pt x="1725140" y="102453"/>
                  <a:pt x="2146336" y="-241209"/>
                  <a:pt x="2574960" y="330291"/>
                </a:cubicBezTo>
                <a:cubicBezTo>
                  <a:pt x="3003585" y="901791"/>
                  <a:pt x="2879760" y="1720941"/>
                  <a:pt x="2794035" y="1930491"/>
                </a:cubicBezTo>
                <a:cubicBezTo>
                  <a:pt x="2708310" y="2140041"/>
                  <a:pt x="2460660" y="2835366"/>
                  <a:pt x="1851061" y="2825841"/>
                </a:cubicBezTo>
                <a:cubicBezTo>
                  <a:pt x="1241461" y="2816316"/>
                  <a:pt x="1451011" y="2175093"/>
                  <a:pt x="603286" y="1933729"/>
                </a:cubicBezTo>
                <a:cubicBezTo>
                  <a:pt x="-244440" y="1692366"/>
                  <a:pt x="22260" y="920841"/>
                  <a:pt x="107985" y="739866"/>
                </a:cubicBezTo>
                <a:cubicBezTo>
                  <a:pt x="121606" y="711291"/>
                  <a:pt x="137608" y="683288"/>
                  <a:pt x="155801" y="656522"/>
                </a:cubicBezTo>
                <a:close/>
              </a:path>
            </a:pathLst>
          </a:custGeom>
          <a:noFill/>
          <a:ln w="9525" cap="flat">
            <a:solidFill>
              <a:schemeClr val="accent1"/>
            </a:solidFill>
            <a:prstDash val="solid"/>
            <a:miter lim="800000"/>
          </a:ln>
          <a:effectLst/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pic>
        <p:nvPicPr>
          <p:cNvPr id="3" name="image68.jpeg"/>
          <p:cNvPicPr>
            <a:picLocks noChangeAspect="1"/>
          </p:cNvPicPr>
          <p:nvPr/>
        </p:nvPicPr>
        <p:blipFill rotWithShape="1">
          <a:blip r:embed="rId3"/>
          <a:srcRect l="14093" r="14093"/>
          <a:stretch>
            <a:fillRect/>
          </a:stretch>
        </p:blipFill>
        <p:spPr>
          <a:xfrm rot="21445174">
            <a:off x="6595864" y="1773479"/>
            <a:ext cx="4515311" cy="4189463"/>
          </a:xfrm>
          <a:custGeom>
            <a:avLst/>
            <a:gdLst/>
            <a:ahLst/>
            <a:cxnLst/>
            <a:rect l="0" t="0" r="0" b="0"/>
            <a:pathLst>
              <a:path w="4515311" h="4189463">
                <a:moveTo>
                  <a:pt x="1139864" y="1681"/>
                </a:moveTo>
                <a:cubicBezTo>
                  <a:pt x="1666331" y="38907"/>
                  <a:pt x="1958762" y="680183"/>
                  <a:pt x="3039740" y="494141"/>
                </a:cubicBezTo>
                <a:cubicBezTo>
                  <a:pt x="4370176" y="265163"/>
                  <a:pt x="4513638" y="1507199"/>
                  <a:pt x="4515307" y="1813904"/>
                </a:cubicBezTo>
                <a:cubicBezTo>
                  <a:pt x="4515453" y="1862388"/>
                  <a:pt x="4511932" y="1911661"/>
                  <a:pt x="4504565" y="1960680"/>
                </a:cubicBezTo>
                <a:cubicBezTo>
                  <a:pt x="4454282" y="2297034"/>
                  <a:pt x="4197159" y="2562971"/>
                  <a:pt x="3866646" y="2642434"/>
                </a:cubicBezTo>
                <a:cubicBezTo>
                  <a:pt x="3587485" y="2709528"/>
                  <a:pt x="3064108" y="2944432"/>
                  <a:pt x="2705395" y="3766393"/>
                </a:cubicBezTo>
                <a:cubicBezTo>
                  <a:pt x="2705395" y="3766393"/>
                  <a:pt x="2351807" y="4520184"/>
                  <a:pt x="1381038" y="4015432"/>
                </a:cubicBezTo>
                <a:cubicBezTo>
                  <a:pt x="410268" y="3510681"/>
                  <a:pt x="37969" y="2297647"/>
                  <a:pt x="17349" y="1951491"/>
                </a:cubicBezTo>
                <a:cubicBezTo>
                  <a:pt x="-3270" y="1605335"/>
                  <a:pt x="-122497" y="481134"/>
                  <a:pt x="725429" y="90005"/>
                </a:cubicBezTo>
                <a:cubicBezTo>
                  <a:pt x="884415" y="16668"/>
                  <a:pt x="1018371" y="-6910"/>
                  <a:pt x="1139864" y="1681"/>
                </a:cubicBezTo>
                <a:close/>
              </a:path>
            </a:pathLst>
          </a:cu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4" name="AutoShape 4"/>
          <p:cNvSpPr/>
          <p:nvPr/>
        </p:nvSpPr>
        <p:spPr>
          <a:xfrm>
            <a:off x="8596676" y="1599311"/>
            <a:ext cx="256843" cy="25684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280792" y="5491406"/>
            <a:ext cx="159747" cy="1597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825500" y="2161330"/>
            <a:ext cx="5425440" cy="3413760"/>
            <a:chOff x="1300" y="3002"/>
            <a:chExt cx="8544" cy="5376"/>
          </a:xfrm>
        </p:grpSpPr>
        <p:sp>
          <p:nvSpPr>
            <p:cNvPr id="7" name="TextBox 7"/>
            <p:cNvSpPr txBox="1"/>
            <p:nvPr/>
          </p:nvSpPr>
          <p:spPr>
            <a:xfrm>
              <a:off x="1300" y="3852"/>
              <a:ext cx="8544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1"/>
                  </a:solidFill>
                  <a:latin typeface="思源黑体 Normal"/>
                  <a:ea typeface="思源黑体 Normal"/>
                </a:rPr>
                <a:t>Each candidate card displays match score, status (Approved/Needs Improvement), skill analysis, score breakdown, AI recommendation, role suggestions, bias alerts, and improvement tips for comprehensive evaluation.</a:t>
              </a:r>
              <a:endParaRPr lang="en-US" sz="11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0" y="3002"/>
              <a:ext cx="8544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7C671"/>
                  </a:solidFill>
                  <a:latin typeface="思源黑体 Normal"/>
                  <a:ea typeface="思源黑体 Normal"/>
                </a:rPr>
                <a:t>Candidate Card Details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Understanding Results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84638" y="195897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rgbClr val="E7C671"/>
                </a:solidFill>
                <a:effectLst/>
                <a:latin typeface="思源黑体 Medium"/>
                <a:ea typeface="思源黑体 Medium"/>
              </a:rPr>
              <a:t>PART   06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789555" y="2865755"/>
            <a:ext cx="7068185" cy="20942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E7C671"/>
                </a:solidFill>
                <a:latin typeface="思源黑体 Medium"/>
                <a:ea typeface="思源黑体 Medium"/>
              </a:rPr>
              <a:t>Example Usage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6000" y="1341726"/>
            <a:ext cx="5656527" cy="4934385"/>
          </a:xfrm>
          <a:custGeom>
            <a:avLst/>
            <a:gdLst/>
            <a:ahLst/>
            <a:cxnLst/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rgbClr val="3A3021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 flipH="1" flipV="1">
            <a:off x="5763864" y="1341726"/>
            <a:ext cx="5656527" cy="4934385"/>
          </a:xfrm>
          <a:custGeom>
            <a:avLst/>
            <a:gdLst/>
            <a:ahLst/>
            <a:cxnLst/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rgbClr val="3A3021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1230" y="1636994"/>
            <a:ext cx="864000" cy="828000"/>
          </a:xfrm>
          <a:prstGeom prst="rect">
            <a:avLst/>
          </a:prstGeom>
          <a:noFill/>
        </p:spPr>
        <p:txBody>
          <a:bodyPr vert="horz" wrap="square" lIns="90170" tIns="46990" rIns="90170" bIns="46990" anchor="b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3779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01</a:t>
            </a:r>
          </a:p>
        </p:txBody>
      </p:sp>
      <p:sp>
        <p:nvSpPr>
          <p:cNvPr id="5" name="AutoShape 5"/>
          <p:cNvSpPr/>
          <p:nvPr/>
        </p:nvSpPr>
        <p:spPr>
          <a:xfrm>
            <a:off x="10335836" y="1636994"/>
            <a:ext cx="864000" cy="828000"/>
          </a:xfrm>
          <a:prstGeom prst="rect">
            <a:avLst/>
          </a:prstGeom>
          <a:noFill/>
        </p:spPr>
        <p:txBody>
          <a:bodyPr vert="horz" wrap="square" lIns="90170" tIns="46990" rIns="90170" bIns="46990" anchor="b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3779" b="0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1230" y="2531745"/>
            <a:ext cx="4357370" cy="8280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Job Description and Input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842125" y="2533015"/>
            <a:ext cx="4357370" cy="8280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r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7C671"/>
                </a:solidFill>
                <a:latin typeface="思源黑体 Normal"/>
                <a:ea typeface="思源黑体 Normal"/>
              </a:rPr>
              <a:t>Expected Output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1230" y="3395980"/>
            <a:ext cx="4356000" cy="238252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Input a sample job description for a Python Developer with web development, data analysis, and machine learning experience. Specify required skills and upload sample resumes for testing.</a:t>
            </a:r>
          </a:p>
        </p:txBody>
      </p:sp>
      <p:sp>
        <p:nvSpPr>
          <p:cNvPr id="9" name="AutoShape 9"/>
          <p:cNvSpPr/>
          <p:nvPr/>
        </p:nvSpPr>
        <p:spPr>
          <a:xfrm>
            <a:off x="6843495" y="3395980"/>
            <a:ext cx="4356000" cy="238252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r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The system outputs candidate ranking with scores, skill match analysis, AI recommendations, role suggestions, bias detection alerts, and resume improvement suggestions for actionable insights.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Sample Scenario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12" name="AutoShape 1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84638" y="195897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rgbClr val="E7C671"/>
                </a:solidFill>
                <a:effectLst/>
                <a:latin typeface="思源黑体 Medium"/>
                <a:ea typeface="思源黑体 Medium"/>
              </a:rPr>
              <a:t>PART   07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789555" y="2865755"/>
            <a:ext cx="7068185" cy="20942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E7C671"/>
                </a:solidFill>
                <a:latin typeface="思源黑体 Medium"/>
                <a:ea typeface="思源黑体 Medium"/>
              </a:rPr>
              <a:t>Bias Detection Feature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2951058"/>
          </a:xfrm>
          <a:custGeom>
            <a:avLst/>
            <a:gdLst/>
            <a:ahLst/>
            <a:cxnLst/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rgbClr val="3A3021"/>
          </a:solidFill>
          <a:ln>
            <a:noFill/>
            <a:prstDash val="solid"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100445" y="1935480"/>
            <a:ext cx="5368290" cy="4079875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  <a:effectLst>
            <a:outerShdw blurRad="177800" dist="88900" dir="12000000" algn="t" rotWithShape="0">
              <a:schemeClr val="accent1">
                <a:alpha val="8000"/>
                <a:lumMod val="75000"/>
              </a:schemeClr>
            </a:outerShdw>
          </a:effectLst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4" name="image69.jpe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837" y="2391282"/>
            <a:ext cx="4929505" cy="3168269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822325" y="2383473"/>
            <a:ext cx="5039995" cy="3413760"/>
            <a:chOff x="1805" y="3432"/>
            <a:chExt cx="7937" cy="5376"/>
          </a:xfrm>
        </p:grpSpPr>
        <p:sp>
          <p:nvSpPr>
            <p:cNvPr id="6" name="TextBox 6"/>
            <p:cNvSpPr txBox="1"/>
            <p:nvPr/>
          </p:nvSpPr>
          <p:spPr>
            <a:xfrm>
              <a:off x="1805" y="4282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1"/>
                  </a:solidFill>
                  <a:latin typeface="思源黑体 Normal"/>
                  <a:ea typeface="思源黑体 Normal"/>
                </a:rPr>
                <a:t>The system detects keyword bias, experience penalty, education bias, and keyword stuffing to identify potential discriminatory patterns in ranking.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5" y="3432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 dirty="0">
                  <a:solidFill>
                    <a:srgbClr val="E7C671"/>
                  </a:solidFill>
                  <a:latin typeface="思源黑体 Normal"/>
                  <a:ea typeface="思源黑体 Normal"/>
                </a:rPr>
                <a:t>Fairness Analysis Categories</a:t>
              </a:r>
              <a:endParaRPr lang="en-US" sz="110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Detected Bias Types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2285287" y="2970666"/>
            <a:ext cx="3409950" cy="2887345"/>
          </a:xfrm>
          <a:custGeom>
            <a:avLst/>
            <a:gdLst/>
            <a:ahLst/>
            <a:cxnLst/>
            <a:rect l="l" t="t" r="r" b="b"/>
            <a:pathLst>
              <a:path w="5370" h="4547">
                <a:moveTo>
                  <a:pt x="579" y="0"/>
                </a:moveTo>
                <a:lnTo>
                  <a:pt x="1030" y="362"/>
                </a:lnTo>
                <a:lnTo>
                  <a:pt x="5026" y="362"/>
                </a:lnTo>
                <a:cubicBezTo>
                  <a:pt x="5185" y="362"/>
                  <a:pt x="5317" y="471"/>
                  <a:pt x="5354" y="618"/>
                </a:cubicBezTo>
                <a:lnTo>
                  <a:pt x="5355" y="624"/>
                </a:lnTo>
                <a:lnTo>
                  <a:pt x="5359" y="638"/>
                </a:lnTo>
                <a:cubicBezTo>
                  <a:pt x="5366" y="666"/>
                  <a:pt x="5370" y="695"/>
                  <a:pt x="5370" y="726"/>
                </a:cubicBezTo>
                <a:lnTo>
                  <a:pt x="5370" y="4198"/>
                </a:lnTo>
                <a:cubicBezTo>
                  <a:pt x="5370" y="4391"/>
                  <a:pt x="5214" y="4547"/>
                  <a:pt x="5021" y="4547"/>
                </a:cubicBezTo>
                <a:lnTo>
                  <a:pt x="349" y="4547"/>
                </a:lnTo>
                <a:cubicBezTo>
                  <a:pt x="258" y="4547"/>
                  <a:pt x="176" y="4513"/>
                  <a:pt x="114" y="4456"/>
                </a:cubicBezTo>
                <a:lnTo>
                  <a:pt x="114" y="4456"/>
                </a:lnTo>
                <a:lnTo>
                  <a:pt x="111" y="4453"/>
                </a:lnTo>
                <a:cubicBezTo>
                  <a:pt x="43" y="4392"/>
                  <a:pt x="0" y="4302"/>
                  <a:pt x="0" y="4203"/>
                </a:cubicBezTo>
                <a:lnTo>
                  <a:pt x="0" y="4198"/>
                </a:lnTo>
                <a:lnTo>
                  <a:pt x="0" y="726"/>
                </a:lnTo>
                <a:lnTo>
                  <a:pt x="0" y="700"/>
                </a:lnTo>
                <a:cubicBezTo>
                  <a:pt x="0" y="513"/>
                  <a:pt x="151" y="362"/>
                  <a:pt x="338" y="362"/>
                </a:cubicBezTo>
                <a:lnTo>
                  <a:pt x="580" y="362"/>
                </a:lnTo>
                <a:lnTo>
                  <a:pt x="579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  <a:lumMod val="60000"/>
                  <a:lumOff val="40000"/>
                </a:schemeClr>
              </a:gs>
              <a:gs pos="80000">
                <a:schemeClr val="accent1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789862" y="1826396"/>
            <a:ext cx="4646295" cy="3843064"/>
          </a:xfrm>
          <a:custGeom>
            <a:avLst/>
            <a:gdLst/>
            <a:ahLst/>
            <a:cxnLst/>
            <a:rect l="l" t="t" r="r" b="b"/>
            <a:pathLst>
              <a:path w="7317" h="6052">
                <a:moveTo>
                  <a:pt x="489" y="0"/>
                </a:moveTo>
                <a:lnTo>
                  <a:pt x="6828" y="0"/>
                </a:lnTo>
                <a:cubicBezTo>
                  <a:pt x="7098" y="0"/>
                  <a:pt x="7317" y="219"/>
                  <a:pt x="7317" y="489"/>
                </a:cubicBezTo>
                <a:lnTo>
                  <a:pt x="7317" y="5134"/>
                </a:lnTo>
                <a:cubicBezTo>
                  <a:pt x="7317" y="5404"/>
                  <a:pt x="7098" y="5623"/>
                  <a:pt x="6828" y="5623"/>
                </a:cubicBezTo>
                <a:lnTo>
                  <a:pt x="1234" y="5623"/>
                </a:lnTo>
                <a:lnTo>
                  <a:pt x="699" y="6052"/>
                </a:lnTo>
                <a:lnTo>
                  <a:pt x="700" y="5623"/>
                </a:lnTo>
                <a:lnTo>
                  <a:pt x="489" y="5623"/>
                </a:lnTo>
                <a:cubicBezTo>
                  <a:pt x="219" y="5623"/>
                  <a:pt x="0" y="5404"/>
                  <a:pt x="0" y="5134"/>
                </a:cubicBezTo>
                <a:lnTo>
                  <a:pt x="0" y="489"/>
                </a:lnTo>
                <a:cubicBezTo>
                  <a:pt x="0" y="219"/>
                  <a:pt x="219" y="0"/>
                  <a:pt x="489" y="0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60000"/>
                  <a:lumOff val="40000"/>
                </a:schemeClr>
              </a:gs>
              <a:gs pos="64999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pic>
        <p:nvPicPr>
          <p:cNvPr id="4" name="image74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979" y="1940560"/>
            <a:ext cx="3274060" cy="3274060"/>
          </a:xfrm>
          <a:prstGeom prst="roundRect">
            <a:avLst>
              <a:gd name="adj" fmla="val 6291"/>
            </a:avLst>
          </a:pr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5" name="TextBox 5"/>
          <p:cNvSpPr txBox="1"/>
          <p:nvPr/>
        </p:nvSpPr>
        <p:spPr>
          <a:xfrm>
            <a:off x="6185535" y="2480310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Uses statistical analysis of score distributions, outlier detection with standard deviation, cross-validation between scoring components, and pattern recognition for unfair indicators.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6185535" y="1940560"/>
            <a:ext cx="503999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 dirty="0">
                <a:solidFill>
                  <a:srgbClr val="E7C671"/>
                </a:solidFill>
                <a:latin typeface="思源黑体 Normal"/>
                <a:ea typeface="思源黑体 Normal"/>
              </a:rPr>
              <a:t>Statistical Analysis Process</a:t>
            </a:r>
            <a:endParaRPr lang="en-US" sz="1100" dirty="0"/>
          </a:p>
        </p:txBody>
      </p: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How It Works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84638" y="195897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rgbClr val="E7C671"/>
                </a:solidFill>
                <a:effectLst/>
                <a:latin typeface="思源黑体 Medium"/>
                <a:ea typeface="思源黑体 Medium"/>
              </a:rPr>
              <a:t>PART   08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789555" y="2865755"/>
            <a:ext cx="7068185" cy="20942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E7C671"/>
                </a:solidFill>
                <a:latin typeface="思源黑体 Medium"/>
                <a:ea typeface="思源黑体 Medium"/>
              </a:rPr>
              <a:t>Technical Details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93285" y="2138680"/>
            <a:ext cx="6859905" cy="173990"/>
          </a:xfrm>
          <a:custGeom>
            <a:avLst/>
            <a:gdLst/>
            <a:ahLst/>
            <a:cxnLst/>
            <a:rect l="l" t="t" r="r" b="b"/>
            <a:pathLst>
              <a:path w="10803" h="274">
                <a:moveTo>
                  <a:pt x="0" y="0"/>
                </a:moveTo>
                <a:lnTo>
                  <a:pt x="346" y="1"/>
                </a:lnTo>
                <a:lnTo>
                  <a:pt x="668" y="272"/>
                </a:lnTo>
                <a:lnTo>
                  <a:pt x="10803" y="274"/>
                </a:lnTo>
              </a:path>
            </a:pathLst>
          </a:custGeom>
          <a:noFill/>
          <a:ln w="6350">
            <a:gradFill>
              <a:gsLst>
                <a:gs pos="0">
                  <a:schemeClr val="accent1">
                    <a:alpha val="27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0800000"/>
            </a:gradFill>
            <a:headEnd type="diamond"/>
            <a:tailEnd type="diamon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67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457" y="2312670"/>
            <a:ext cx="3259455" cy="2345187"/>
          </a:xfrm>
          <a:custGeom>
            <a:avLst/>
            <a:gdLst/>
            <a:ahLst/>
            <a:cxnLst/>
            <a:rect l="0" t="0" r="0" b="0"/>
            <a:pathLst>
              <a:path w="5133" h="4987">
                <a:moveTo>
                  <a:pt x="0" y="0"/>
                </a:moveTo>
                <a:lnTo>
                  <a:pt x="5133" y="0"/>
                </a:lnTo>
                <a:lnTo>
                  <a:pt x="5133" y="4987"/>
                </a:lnTo>
                <a:lnTo>
                  <a:pt x="0" y="4987"/>
                </a:lnTo>
                <a:lnTo>
                  <a:pt x="0" y="0"/>
                </a:lnTo>
                <a:close/>
              </a:path>
            </a:pathLst>
          </a:cu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/>
            </a:gradFill>
          </a:ln>
        </p:spPr>
      </p:pic>
      <p:sp>
        <p:nvSpPr>
          <p:cNvPr id="4" name="Freeform 4"/>
          <p:cNvSpPr/>
          <p:nvPr/>
        </p:nvSpPr>
        <p:spPr>
          <a:xfrm>
            <a:off x="937483" y="1893731"/>
            <a:ext cx="3749402" cy="3749402"/>
          </a:xfrm>
          <a:custGeom>
            <a:avLst/>
            <a:gdLst/>
            <a:ahLst/>
            <a:cxnLst/>
            <a:rect l="l" t="t" r="r" b="b"/>
            <a:pathLst>
              <a:path w="3749402" h="3749402">
                <a:moveTo>
                  <a:pt x="0" y="0"/>
                </a:moveTo>
                <a:lnTo>
                  <a:pt x="3749402" y="0"/>
                </a:lnTo>
                <a:lnTo>
                  <a:pt x="3749402" y="3749402"/>
                </a:lnTo>
                <a:lnTo>
                  <a:pt x="3242443" y="3749402"/>
                </a:lnTo>
                <a:lnTo>
                  <a:pt x="3230680" y="3702351"/>
                </a:lnTo>
                <a:lnTo>
                  <a:pt x="2396290" y="3702351"/>
                </a:lnTo>
                <a:lnTo>
                  <a:pt x="2384527" y="3749402"/>
                </a:lnTo>
                <a:lnTo>
                  <a:pt x="2309755" y="3749402"/>
                </a:lnTo>
                <a:lnTo>
                  <a:pt x="2297992" y="3702351"/>
                </a:lnTo>
                <a:lnTo>
                  <a:pt x="1463602" y="3702351"/>
                </a:lnTo>
                <a:lnTo>
                  <a:pt x="1451839" y="3749402"/>
                </a:lnTo>
                <a:lnTo>
                  <a:pt x="1364875" y="3749402"/>
                </a:lnTo>
                <a:lnTo>
                  <a:pt x="1353112" y="3702351"/>
                </a:lnTo>
                <a:lnTo>
                  <a:pt x="518722" y="3702351"/>
                </a:lnTo>
                <a:lnTo>
                  <a:pt x="506959" y="3749402"/>
                </a:lnTo>
                <a:lnTo>
                  <a:pt x="0" y="3749402"/>
                </a:lnTo>
                <a:close/>
              </a:path>
            </a:pathLst>
          </a:custGeom>
          <a:noFill/>
          <a:ln w="6350">
            <a:solidFill>
              <a:schemeClr val="accent1">
                <a:alpha val="50000"/>
              </a:schemeClr>
            </a:solidFill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7413" y="1855631"/>
            <a:ext cx="97663" cy="97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7413" y="5578487"/>
            <a:ext cx="97663" cy="97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636453" y="1860711"/>
            <a:ext cx="97663" cy="97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36453" y="5583567"/>
            <a:ext cx="97663" cy="97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94410" y="5635706"/>
            <a:ext cx="1264920" cy="72390"/>
          </a:xfrm>
          <a:custGeom>
            <a:avLst/>
            <a:gdLst/>
            <a:ahLst/>
            <a:cxnLst/>
            <a:rect l="l" t="t" r="r" b="b"/>
            <a:pathLst>
              <a:path w="1264920" h="72390">
                <a:moveTo>
                  <a:pt x="0" y="72390"/>
                </a:moveTo>
                <a:lnTo>
                  <a:pt x="480060" y="72390"/>
                </a:lnTo>
                <a:lnTo>
                  <a:pt x="491490" y="0"/>
                </a:lnTo>
                <a:lnTo>
                  <a:pt x="1253490" y="0"/>
                </a:lnTo>
                <a:lnTo>
                  <a:pt x="1264920" y="0"/>
                </a:lnTo>
              </a:path>
            </a:pathLst>
          </a:custGeom>
          <a:noFill/>
          <a:ln w="12700">
            <a:solidFill>
              <a:schemeClr val="accent1">
                <a:alpha val="70000"/>
              </a:schemeClr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 rot="5400000">
            <a:off x="4131945" y="5041900"/>
            <a:ext cx="908050" cy="61595"/>
          </a:xfrm>
          <a:custGeom>
            <a:avLst/>
            <a:gdLst/>
            <a:ahLst/>
            <a:cxnLst/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tileRect/>
          </a:gradFill>
          <a:ln>
            <a:noFill/>
          </a:ln>
          <a:effectLst>
            <a:outerShdw blurRad="127000" algn="ctr" rotWithShape="0">
              <a:schemeClr val="accent1">
                <a:alpha val="4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 flipH="1">
            <a:off x="3359150" y="5635706"/>
            <a:ext cx="1264920" cy="72390"/>
          </a:xfrm>
          <a:custGeom>
            <a:avLst/>
            <a:gdLst/>
            <a:ahLst/>
            <a:cxnLst/>
            <a:rect l="l" t="t" r="r" b="b"/>
            <a:pathLst>
              <a:path w="1264920" h="72390">
                <a:moveTo>
                  <a:pt x="0" y="72390"/>
                </a:moveTo>
                <a:lnTo>
                  <a:pt x="480060" y="72390"/>
                </a:lnTo>
                <a:lnTo>
                  <a:pt x="491490" y="0"/>
                </a:lnTo>
                <a:lnTo>
                  <a:pt x="1253490" y="0"/>
                </a:lnTo>
                <a:lnTo>
                  <a:pt x="1264920" y="0"/>
                </a:lnTo>
              </a:path>
            </a:pathLst>
          </a:custGeom>
          <a:noFill/>
          <a:ln w="12700">
            <a:solidFill>
              <a:schemeClr val="accent1">
                <a:alpha val="70000"/>
              </a:schemeClr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5067935" y="2405380"/>
            <a:ext cx="5868670" cy="3121660"/>
            <a:chOff x="7981" y="3788"/>
            <a:chExt cx="9242" cy="4916"/>
          </a:xfrm>
        </p:grpSpPr>
        <p:sp>
          <p:nvSpPr>
            <p:cNvPr id="13" name="TextBox 13"/>
            <p:cNvSpPr txBox="1"/>
            <p:nvPr/>
          </p:nvSpPr>
          <p:spPr>
            <a:xfrm>
              <a:off x="7981" y="4638"/>
              <a:ext cx="9242" cy="406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1"/>
                  </a:solidFill>
                  <a:latin typeface="思源黑体 Normal"/>
                  <a:ea typeface="思源黑体 Normal"/>
                </a:rPr>
                <a:t>The total score is calculated as (Skills × 0.6) + (Experience × 0.2) + (Education × 0.1) + (Keywords × 0.1), prioritizing skills as the main factor.</a:t>
              </a:r>
              <a:endParaRPr lang="en-US" sz="110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81" y="3788"/>
              <a:ext cx="9242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7C671"/>
                  </a:solidFill>
                  <a:latin typeface="思源黑体 Normal"/>
                  <a:ea typeface="思源黑体 Normal"/>
                </a:rPr>
                <a:t>Formula Implementation</a:t>
              </a:r>
              <a:endParaRPr lang="en-US" sz="1100"/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16" name="TextBox 1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Scoring Algorithm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80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85610" y="1680845"/>
            <a:ext cx="4229735" cy="4251960"/>
            <a:chOff x="10686" y="2647"/>
            <a:chExt cx="6661" cy="6696"/>
          </a:xfrm>
        </p:grpSpPr>
        <p:sp>
          <p:nvSpPr>
            <p:cNvPr id="3" name="Freeform 3"/>
            <p:cNvSpPr/>
            <p:nvPr/>
          </p:nvSpPr>
          <p:spPr>
            <a:xfrm>
              <a:off x="10686" y="2682"/>
              <a:ext cx="6661" cy="6661"/>
            </a:xfrm>
            <a:custGeom>
              <a:avLst/>
              <a:gdLst/>
              <a:ahLst/>
              <a:cxnLst/>
              <a:rect l="l" t="t" r="r" b="b"/>
              <a:pathLst>
                <a:path w="3749402" h="3749402">
                  <a:moveTo>
                    <a:pt x="0" y="0"/>
                  </a:moveTo>
                  <a:lnTo>
                    <a:pt x="3749402" y="0"/>
                  </a:lnTo>
                  <a:lnTo>
                    <a:pt x="3749402" y="3749402"/>
                  </a:lnTo>
                  <a:lnTo>
                    <a:pt x="3242443" y="3749402"/>
                  </a:lnTo>
                  <a:lnTo>
                    <a:pt x="3230680" y="3702351"/>
                  </a:lnTo>
                  <a:lnTo>
                    <a:pt x="2396290" y="3702351"/>
                  </a:lnTo>
                  <a:lnTo>
                    <a:pt x="2384527" y="3749402"/>
                  </a:lnTo>
                  <a:lnTo>
                    <a:pt x="2309755" y="3749402"/>
                  </a:lnTo>
                  <a:lnTo>
                    <a:pt x="2297992" y="3702351"/>
                  </a:lnTo>
                  <a:lnTo>
                    <a:pt x="1463602" y="3702351"/>
                  </a:lnTo>
                  <a:lnTo>
                    <a:pt x="1451839" y="3749402"/>
                  </a:lnTo>
                  <a:lnTo>
                    <a:pt x="1364875" y="3749402"/>
                  </a:lnTo>
                  <a:lnTo>
                    <a:pt x="1353112" y="3702351"/>
                  </a:lnTo>
                  <a:lnTo>
                    <a:pt x="518722" y="3702351"/>
                  </a:lnTo>
                  <a:lnTo>
                    <a:pt x="506959" y="3749402"/>
                  </a:lnTo>
                  <a:lnTo>
                    <a:pt x="0" y="374940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25000"/>
                  </a:schemeClr>
                </a:gs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</a:gsLst>
              <a:lin ang="2700000"/>
            </a:gradFill>
            <a:ln w="6350">
              <a:solidFill>
                <a:schemeClr val="accent1">
                  <a:alpha val="40000"/>
                </a:schemeClr>
              </a:solidFill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pic>
          <p:nvPicPr>
            <p:cNvPr id="4" name="image76.jpe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8" y="3352"/>
              <a:ext cx="5998" cy="4660"/>
            </a:xfrm>
            <a:custGeom>
              <a:avLst/>
              <a:gdLst/>
              <a:ahLst/>
              <a:cxnLst/>
              <a:rect l="0" t="0" r="0" b="0"/>
              <a:pathLst>
                <a:path w="5133" h="4987">
                  <a:moveTo>
                    <a:pt x="0" y="0"/>
                  </a:moveTo>
                  <a:lnTo>
                    <a:pt x="5133" y="0"/>
                  </a:lnTo>
                  <a:lnTo>
                    <a:pt x="5133" y="4987"/>
                  </a:lnTo>
                  <a:lnTo>
                    <a:pt x="0" y="4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/>
              </a:gradFill>
            </a:ln>
          </p:spPr>
        </p:pic>
        <p:sp>
          <p:nvSpPr>
            <p:cNvPr id="5" name="Freeform 5"/>
            <p:cNvSpPr/>
            <p:nvPr/>
          </p:nvSpPr>
          <p:spPr>
            <a:xfrm>
              <a:off x="10694" y="2690"/>
              <a:ext cx="1352" cy="418"/>
            </a:xfrm>
            <a:custGeom>
              <a:avLst/>
              <a:gdLst/>
              <a:ahLst/>
              <a:cxnLst/>
              <a:rect l="l" t="t" r="r" b="b"/>
              <a:pathLst>
                <a:path w="1360968" h="457200">
                  <a:moveTo>
                    <a:pt x="1360968" y="0"/>
                  </a:moveTo>
                  <a:lnTo>
                    <a:pt x="0" y="0"/>
                  </a:ln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 vert="horz" lIns="91440" tIns="45720" rIns="91440" bIns="45720" anchor="ctr"/>
            <a:lstStyle/>
            <a:p>
              <a:pPr marL="0"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 rot="10800000" flipH="1">
              <a:off x="10694" y="2690"/>
              <a:ext cx="264" cy="165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7" name="Connector 7"/>
            <p:cNvCxnSpPr/>
            <p:nvPr/>
          </p:nvCxnSpPr>
          <p:spPr>
            <a:xfrm>
              <a:off x="10725" y="2941"/>
              <a:ext cx="0" cy="124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</p:cxnSp>
        <p:sp>
          <p:nvSpPr>
            <p:cNvPr id="8" name="Freeform 8"/>
            <p:cNvSpPr/>
            <p:nvPr/>
          </p:nvSpPr>
          <p:spPr>
            <a:xfrm>
              <a:off x="11260" y="2647"/>
              <a:ext cx="394" cy="40"/>
            </a:xfrm>
            <a:custGeom>
              <a:avLst/>
              <a:gdLst/>
              <a:ahLst/>
              <a:cxnLst/>
              <a:rect l="l" t="t" r="r" b="b"/>
              <a:pathLst>
                <a:path w="220641" h="40720">
                  <a:moveTo>
                    <a:pt x="149306" y="0"/>
                  </a:moveTo>
                  <a:lnTo>
                    <a:pt x="220641" y="39541"/>
                  </a:lnTo>
                  <a:lnTo>
                    <a:pt x="0" y="40720"/>
                  </a:lnTo>
                  <a:lnTo>
                    <a:pt x="22194" y="680"/>
                  </a:lnTo>
                  <a:lnTo>
                    <a:pt x="149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 flipV="1">
              <a:off x="16863" y="8918"/>
              <a:ext cx="471" cy="409"/>
            </a:xfrm>
            <a:custGeom>
              <a:avLst/>
              <a:gdLst/>
              <a:ahLst/>
              <a:cxnLst/>
              <a:rect l="l" t="t" r="r" b="b"/>
              <a:pathLst>
                <a:path w="571" h="409">
                  <a:moveTo>
                    <a:pt x="0" y="0"/>
                  </a:moveTo>
                  <a:lnTo>
                    <a:pt x="571" y="0"/>
                  </a:lnTo>
                  <a:lnTo>
                    <a:pt x="569" y="409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 rot="10800000" flipH="1">
              <a:off x="11018" y="9053"/>
              <a:ext cx="1430" cy="97"/>
            </a:xfrm>
            <a:custGeom>
              <a:avLst/>
              <a:gdLst/>
              <a:ahLst/>
              <a:cxnLst/>
              <a:rect l="l" t="t" r="r" b="b"/>
              <a:pathLst>
                <a:path w="1430" h="97">
                  <a:moveTo>
                    <a:pt x="0" y="97"/>
                  </a:moveTo>
                  <a:lnTo>
                    <a:pt x="24" y="0"/>
                  </a:lnTo>
                  <a:lnTo>
                    <a:pt x="101" y="0"/>
                  </a:lnTo>
                  <a:lnTo>
                    <a:pt x="77" y="97"/>
                  </a:lnTo>
                  <a:lnTo>
                    <a:pt x="0" y="97"/>
                  </a:lnTo>
                  <a:close/>
                  <a:moveTo>
                    <a:pt x="133" y="97"/>
                  </a:moveTo>
                  <a:lnTo>
                    <a:pt x="157" y="0"/>
                  </a:lnTo>
                  <a:lnTo>
                    <a:pt x="234" y="0"/>
                  </a:lnTo>
                  <a:lnTo>
                    <a:pt x="210" y="97"/>
                  </a:lnTo>
                  <a:lnTo>
                    <a:pt x="133" y="97"/>
                  </a:lnTo>
                  <a:close/>
                  <a:moveTo>
                    <a:pt x="266" y="97"/>
                  </a:moveTo>
                  <a:lnTo>
                    <a:pt x="290" y="0"/>
                  </a:lnTo>
                  <a:lnTo>
                    <a:pt x="367" y="0"/>
                  </a:lnTo>
                  <a:lnTo>
                    <a:pt x="343" y="97"/>
                  </a:lnTo>
                  <a:lnTo>
                    <a:pt x="266" y="97"/>
                  </a:lnTo>
                  <a:close/>
                  <a:moveTo>
                    <a:pt x="399" y="97"/>
                  </a:moveTo>
                  <a:lnTo>
                    <a:pt x="423" y="0"/>
                  </a:lnTo>
                  <a:lnTo>
                    <a:pt x="500" y="0"/>
                  </a:lnTo>
                  <a:lnTo>
                    <a:pt x="476" y="97"/>
                  </a:lnTo>
                  <a:lnTo>
                    <a:pt x="399" y="97"/>
                  </a:lnTo>
                  <a:close/>
                  <a:moveTo>
                    <a:pt x="532" y="97"/>
                  </a:moveTo>
                  <a:lnTo>
                    <a:pt x="556" y="0"/>
                  </a:lnTo>
                  <a:lnTo>
                    <a:pt x="633" y="0"/>
                  </a:lnTo>
                  <a:lnTo>
                    <a:pt x="609" y="97"/>
                  </a:lnTo>
                  <a:lnTo>
                    <a:pt x="532" y="97"/>
                  </a:lnTo>
                  <a:close/>
                  <a:moveTo>
                    <a:pt x="664" y="97"/>
                  </a:moveTo>
                  <a:lnTo>
                    <a:pt x="688" y="0"/>
                  </a:lnTo>
                  <a:lnTo>
                    <a:pt x="765" y="0"/>
                  </a:lnTo>
                  <a:lnTo>
                    <a:pt x="741" y="97"/>
                  </a:lnTo>
                  <a:lnTo>
                    <a:pt x="664" y="97"/>
                  </a:lnTo>
                  <a:close/>
                  <a:moveTo>
                    <a:pt x="797" y="97"/>
                  </a:moveTo>
                  <a:lnTo>
                    <a:pt x="821" y="0"/>
                  </a:lnTo>
                  <a:lnTo>
                    <a:pt x="898" y="0"/>
                  </a:lnTo>
                  <a:lnTo>
                    <a:pt x="874" y="97"/>
                  </a:lnTo>
                  <a:lnTo>
                    <a:pt x="797" y="97"/>
                  </a:lnTo>
                  <a:close/>
                  <a:moveTo>
                    <a:pt x="930" y="97"/>
                  </a:moveTo>
                  <a:lnTo>
                    <a:pt x="954" y="0"/>
                  </a:lnTo>
                  <a:lnTo>
                    <a:pt x="1031" y="0"/>
                  </a:lnTo>
                  <a:lnTo>
                    <a:pt x="1007" y="97"/>
                  </a:lnTo>
                  <a:lnTo>
                    <a:pt x="930" y="97"/>
                  </a:lnTo>
                  <a:close/>
                  <a:moveTo>
                    <a:pt x="1063" y="97"/>
                  </a:moveTo>
                  <a:lnTo>
                    <a:pt x="1087" y="0"/>
                  </a:lnTo>
                  <a:lnTo>
                    <a:pt x="1164" y="0"/>
                  </a:lnTo>
                  <a:lnTo>
                    <a:pt x="1140" y="97"/>
                  </a:lnTo>
                  <a:lnTo>
                    <a:pt x="1063" y="97"/>
                  </a:lnTo>
                  <a:close/>
                  <a:moveTo>
                    <a:pt x="1196" y="97"/>
                  </a:moveTo>
                  <a:lnTo>
                    <a:pt x="1220" y="0"/>
                  </a:lnTo>
                  <a:lnTo>
                    <a:pt x="1297" y="0"/>
                  </a:lnTo>
                  <a:lnTo>
                    <a:pt x="1273" y="97"/>
                  </a:lnTo>
                  <a:lnTo>
                    <a:pt x="1196" y="97"/>
                  </a:lnTo>
                  <a:close/>
                  <a:moveTo>
                    <a:pt x="1329" y="97"/>
                  </a:moveTo>
                  <a:lnTo>
                    <a:pt x="1353" y="0"/>
                  </a:lnTo>
                  <a:lnTo>
                    <a:pt x="1430" y="0"/>
                  </a:lnTo>
                  <a:lnTo>
                    <a:pt x="1406" y="97"/>
                  </a:lnTo>
                  <a:lnTo>
                    <a:pt x="1329" y="9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tileRect/>
            </a:gradFill>
            <a:ln>
              <a:noFill/>
            </a:ln>
            <a:effectLst>
              <a:outerShdw blurRad="127000" algn="ctr" rotWithShape="0">
                <a:schemeClr val="accent1">
                  <a:alpha val="40000"/>
                </a:schemeClr>
              </a:outerShdw>
            </a:effectLst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 rot="16200000" flipV="1">
              <a:off x="7982" y="6319"/>
              <a:ext cx="5726" cy="130"/>
            </a:xfrm>
            <a:custGeom>
              <a:avLst/>
              <a:gdLst/>
              <a:ahLst/>
              <a:cxnLst/>
              <a:rect l="l" t="t" r="r" b="b"/>
              <a:pathLst>
                <a:path w="4210493" h="233916">
                  <a:moveTo>
                    <a:pt x="0" y="116958"/>
                  </a:moveTo>
                  <a:lnTo>
                    <a:pt x="744279" y="116958"/>
                  </a:lnTo>
                  <a:lnTo>
                    <a:pt x="1010093" y="0"/>
                  </a:lnTo>
                  <a:lnTo>
                    <a:pt x="1350335" y="0"/>
                  </a:lnTo>
                  <a:lnTo>
                    <a:pt x="2955851" y="0"/>
                  </a:lnTo>
                  <a:lnTo>
                    <a:pt x="3157870" y="233916"/>
                  </a:lnTo>
                  <a:lnTo>
                    <a:pt x="4210493" y="233916"/>
                  </a:lnTo>
                </a:path>
              </a:pathLst>
            </a:custGeom>
            <a:noFill/>
            <a:ln cap="rnd">
              <a:gradFill>
                <a:gsLst>
                  <a:gs pos="0">
                    <a:schemeClr val="accent1">
                      <a:alpha val="0"/>
                    </a:schemeClr>
                  </a:gs>
                  <a:gs pos="61000">
                    <a:schemeClr val="accent1">
                      <a:alpha val="59000"/>
                    </a:schemeClr>
                  </a:gs>
                  <a:gs pos="100000">
                    <a:srgbClr val="B1DEF3">
                      <a:alpha val="4000"/>
                    </a:srgbClr>
                  </a:gs>
                </a:gsLst>
                <a:lin ang="10800000"/>
                <a:tileRect/>
              </a:gradFill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 rot="5400000" flipH="1" flipV="1">
              <a:off x="14347" y="6319"/>
              <a:ext cx="5726" cy="130"/>
            </a:xfrm>
            <a:custGeom>
              <a:avLst/>
              <a:gdLst/>
              <a:ahLst/>
              <a:cxnLst/>
              <a:rect l="l" t="t" r="r" b="b"/>
              <a:pathLst>
                <a:path w="4210493" h="233916">
                  <a:moveTo>
                    <a:pt x="0" y="116958"/>
                  </a:moveTo>
                  <a:lnTo>
                    <a:pt x="744279" y="116958"/>
                  </a:lnTo>
                  <a:lnTo>
                    <a:pt x="1010093" y="0"/>
                  </a:lnTo>
                  <a:lnTo>
                    <a:pt x="1350335" y="0"/>
                  </a:lnTo>
                  <a:lnTo>
                    <a:pt x="2955851" y="0"/>
                  </a:lnTo>
                  <a:lnTo>
                    <a:pt x="3157870" y="233916"/>
                  </a:lnTo>
                  <a:lnTo>
                    <a:pt x="4210493" y="233916"/>
                  </a:lnTo>
                </a:path>
              </a:pathLst>
            </a:custGeom>
            <a:noFill/>
            <a:ln cap="rnd">
              <a:gradFill>
                <a:gsLst>
                  <a:gs pos="0">
                    <a:schemeClr val="accent1">
                      <a:alpha val="0"/>
                    </a:schemeClr>
                  </a:gs>
                  <a:gs pos="61000">
                    <a:schemeClr val="accent1">
                      <a:alpha val="59000"/>
                    </a:schemeClr>
                  </a:gs>
                  <a:gs pos="100000">
                    <a:srgbClr val="B1DEF3">
                      <a:alpha val="4000"/>
                    </a:srgbClr>
                  </a:gs>
                </a:gsLst>
                <a:lin ang="10800000"/>
                <a:tileRect/>
              </a:gradFill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6175" y="2128520"/>
            <a:ext cx="5039360" cy="3413760"/>
            <a:chOff x="1805" y="3251"/>
            <a:chExt cx="7936" cy="5376"/>
          </a:xfrm>
        </p:grpSpPr>
        <p:sp>
          <p:nvSpPr>
            <p:cNvPr id="14" name="TextBox 14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1"/>
                  </a:solidFill>
                  <a:latin typeface="思源黑体 Normal"/>
                  <a:ea typeface="思源黑体 Normal"/>
                </a:rPr>
                <a:t>Processes PDF with `pdfplumber` and DOCX with `python-docx`. It removes formatting artifacts and normalizes content for accurate text extraction.</a:t>
              </a:r>
              <a:endParaRPr lang="en-US" sz="110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7C671"/>
                  </a:solidFill>
                  <a:latin typeface="思源黑体 Normal"/>
                  <a:ea typeface="思源黑体 Normal"/>
                </a:rPr>
                <a:t>Format Handling and Cleaning</a:t>
              </a:r>
              <a:endParaRPr lang="en-US" sz="110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File Processing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0" y="2165985"/>
            <a:ext cx="5346065" cy="3856990"/>
          </a:xfrm>
          <a:prstGeom prst="roundRect">
            <a:avLst>
              <a:gd name="adj" fmla="val 3764"/>
            </a:avLst>
          </a:prstGeom>
          <a:solidFill>
            <a:srgbClr val="3A3021">
              <a:alpha val="80000"/>
            </a:srgbClr>
          </a:solidFill>
          <a:ln>
            <a:noFill/>
          </a:ln>
          <a:effectLst>
            <a:outerShdw blurRad="254000" dist="25400" dir="2700000" algn="tl" rotWithShape="0">
              <a:schemeClr val="tx1">
                <a:alpha val="20000"/>
                <a:lumMod val="50000"/>
                <a:lumOff val="5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277610" y="1886585"/>
            <a:ext cx="5346065" cy="3856990"/>
          </a:xfrm>
          <a:prstGeom prst="roundRect">
            <a:avLst>
              <a:gd name="adj" fmla="val 3764"/>
            </a:avLst>
          </a:prstGeom>
          <a:solidFill>
            <a:srgbClr val="3A3021">
              <a:alpha val="90000"/>
            </a:srgbClr>
          </a:solidFill>
          <a:ln>
            <a:noFill/>
          </a:ln>
          <a:effectLst>
            <a:outerShdw blurRad="254000" dist="25400" dir="2700000" algn="tl" rotWithShape="0">
              <a:schemeClr val="tx1">
                <a:alpha val="20000"/>
                <a:lumMod val="50000"/>
                <a:lumOff val="5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068695" y="1607185"/>
            <a:ext cx="5346065" cy="3856990"/>
          </a:xfrm>
          <a:prstGeom prst="roundRect">
            <a:avLst>
              <a:gd name="adj" fmla="val 3764"/>
            </a:avLst>
          </a:prstGeom>
          <a:solidFill>
            <a:srgbClr val="3A3021"/>
          </a:solidFill>
          <a:ln>
            <a:noFill/>
          </a:ln>
          <a:effectLst>
            <a:outerShdw blurRad="254000" dist="25400" dir="2700000" algn="tl" rotWithShape="0">
              <a:schemeClr val="tx1">
                <a:alpha val="20000"/>
                <a:lumMod val="50000"/>
                <a:lumOff val="5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pic>
        <p:nvPicPr>
          <p:cNvPr id="5" name="image72.jpeg"/>
          <p:cNvPicPr>
            <a:picLocks noChangeAspect="1"/>
          </p:cNvPicPr>
          <p:nvPr/>
        </p:nvPicPr>
        <p:blipFill>
          <a:blip r:embed="rId3"/>
          <a:srcRect l="1754" r="1754"/>
          <a:stretch>
            <a:fillRect/>
          </a:stretch>
        </p:blipFill>
        <p:spPr>
          <a:xfrm>
            <a:off x="6386195" y="1956435"/>
            <a:ext cx="4711700" cy="3257550"/>
          </a:xfrm>
          <a:custGeom>
            <a:avLst/>
            <a:gdLst/>
            <a:ahLst/>
            <a:cxnLst/>
            <a:rect l="0" t="0" r="0" b="0"/>
            <a:pathLst>
              <a:path w="7420" h="3602">
                <a:moveTo>
                  <a:pt x="136" y="0"/>
                </a:moveTo>
                <a:lnTo>
                  <a:pt x="7284" y="0"/>
                </a:lnTo>
                <a:cubicBezTo>
                  <a:pt x="7359" y="0"/>
                  <a:pt x="7420" y="61"/>
                  <a:pt x="7420" y="136"/>
                </a:cubicBezTo>
                <a:lnTo>
                  <a:pt x="7420" y="3466"/>
                </a:lnTo>
                <a:cubicBezTo>
                  <a:pt x="7420" y="3541"/>
                  <a:pt x="7359" y="3602"/>
                  <a:pt x="7284" y="3602"/>
                </a:cubicBezTo>
                <a:lnTo>
                  <a:pt x="136" y="3602"/>
                </a:lnTo>
                <a:cubicBezTo>
                  <a:pt x="61" y="3602"/>
                  <a:pt x="0" y="3541"/>
                  <a:pt x="0" y="3466"/>
                </a:cubicBezTo>
                <a:lnTo>
                  <a:pt x="0" y="136"/>
                </a:lnTo>
                <a:cubicBezTo>
                  <a:pt x="0" y="61"/>
                  <a:pt x="61" y="0"/>
                  <a:pt x="136" y="0"/>
                </a:cubicBez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grpSp>
        <p:nvGrpSpPr>
          <p:cNvPr id="6" name="Group 6"/>
          <p:cNvGrpSpPr/>
          <p:nvPr/>
        </p:nvGrpSpPr>
        <p:grpSpPr>
          <a:xfrm>
            <a:off x="685165" y="1878330"/>
            <a:ext cx="5039360" cy="3413760"/>
            <a:chOff x="1805" y="3251"/>
            <a:chExt cx="7936" cy="5376"/>
          </a:xfrm>
        </p:grpSpPr>
        <p:sp>
          <p:nvSpPr>
            <p:cNvPr id="7" name="TextBox 7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1"/>
                  </a:solidFill>
                  <a:latin typeface="思源黑体 Normal"/>
                  <a:ea typeface="思源黑体 Normal"/>
                </a:rPr>
                <a:t>Use semantic search for better results by installing `sentence-transformers`, process fewer resumes at once for faster analysis, and ensure resumes are in clear, readable formats.</a:t>
              </a:r>
              <a:endParaRPr lang="en-US" sz="11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7C671"/>
                  </a:solidFill>
                  <a:latin typeface="思源黑体 Normal"/>
                  <a:ea typeface="思源黑体 Normal"/>
                </a:rPr>
                <a:t>Optimization Recommendations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Performance Tips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84638" y="195897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5000" b="0" i="0" u="none" baseline="0">
                <a:ln/>
                <a:solidFill>
                  <a:srgbClr val="E7C671"/>
                </a:solidFill>
                <a:effectLst/>
                <a:latin typeface="思源黑体 Medium"/>
                <a:ea typeface="思源黑体 Medium"/>
              </a:rPr>
              <a:t>PART   09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789555" y="2865755"/>
            <a:ext cx="7068185" cy="20942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E7C671"/>
                </a:solidFill>
                <a:latin typeface="思源黑体 Medium"/>
                <a:ea typeface="思源黑体 Medium"/>
              </a:rPr>
              <a:t>Future Enhancements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705" y="1285875"/>
            <a:ext cx="8056245" cy="5211445"/>
          </a:xfrm>
          <a:prstGeom prst="rect">
            <a:avLst/>
          </a:prstGeom>
          <a:solidFill>
            <a:srgbClr val="3A302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73.jpeg"/>
          <p:cNvPicPr>
            <a:picLocks noChangeAspect="1"/>
          </p:cNvPicPr>
          <p:nvPr/>
        </p:nvPicPr>
        <p:blipFill rotWithShape="1">
          <a:blip r:embed="rId3"/>
          <a:srcRect l="1416" r="1416"/>
          <a:stretch>
            <a:fillRect/>
          </a:stretch>
        </p:blipFill>
        <p:spPr>
          <a:xfrm>
            <a:off x="6305550" y="1873250"/>
            <a:ext cx="5886450" cy="4036695"/>
          </a:xfrm>
          <a:custGeom>
            <a:avLst/>
            <a:gdLst/>
            <a:ahLst/>
            <a:cxnLst/>
            <a:rect l="0" t="0" r="0" b="0"/>
            <a:pathLst>
              <a:path w="6120000" h="4500000">
                <a:moveTo>
                  <a:pt x="0" y="0"/>
                </a:moveTo>
                <a:lnTo>
                  <a:pt x="6120000" y="0"/>
                </a:lnTo>
                <a:lnTo>
                  <a:pt x="6120000" y="4500000"/>
                </a:lnTo>
                <a:lnTo>
                  <a:pt x="0" y="4500000"/>
                </a:lnTo>
                <a:close/>
              </a:path>
            </a:pathLst>
          </a:custGeom>
          <a:ln w="6350">
            <a:solidFill>
              <a:schemeClr val="tx1">
                <a:alpha val="50000"/>
                <a:lumMod val="40000"/>
                <a:lumOff val="60000"/>
              </a:schemeClr>
            </a:solidFill>
          </a:ln>
          <a:effectLst>
            <a:outerShdw blurRad="254000" dist="381000" dir="8400000" algn="t" rotWithShape="0">
              <a:schemeClr val="accent1">
                <a:alpha val="15000"/>
                <a:lumMod val="50000"/>
              </a:schemeClr>
            </a:outerShdw>
          </a:effectLst>
        </p:spPr>
      </p:pic>
      <p:grpSp>
        <p:nvGrpSpPr>
          <p:cNvPr id="4" name="Group 4"/>
          <p:cNvGrpSpPr/>
          <p:nvPr/>
        </p:nvGrpSpPr>
        <p:grpSpPr>
          <a:xfrm>
            <a:off x="873125" y="2184718"/>
            <a:ext cx="4913630" cy="3413760"/>
            <a:chOff x="1805" y="3251"/>
            <a:chExt cx="7936" cy="5376"/>
          </a:xfrm>
        </p:grpSpPr>
        <p:sp>
          <p:nvSpPr>
            <p:cNvPr id="5" name="TextBox 5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bg1"/>
                  </a:solidFill>
                  <a:latin typeface="思源黑体 Normal"/>
                  <a:ea typeface="思源黑体 Normal"/>
                </a:rPr>
                <a:t>Support for additional file formats, advanced NLP models, resume parsing for structured data, ATS integration, batch processing, custom scoring weights, and export to CSV/PDF formats are planned.</a:t>
              </a:r>
              <a:endParaRPr lang="en-US" sz="11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7C671"/>
                  </a:solidFill>
                  <a:latin typeface="思源黑体 Normal"/>
                  <a:ea typeface="思源黑体 Normal"/>
                </a:rPr>
                <a:t>Development Roadmap</a:t>
              </a:r>
              <a:endParaRPr lang="en-US" sz="1100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7C671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7C671"/>
                </a:solidFill>
                <a:latin typeface="思源黑体 Normal"/>
                <a:ea typeface="思源黑体 Normal"/>
              </a:rPr>
              <a:t>Planned Features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70935" y="1644015"/>
            <a:ext cx="5547995" cy="17424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dist" fontAlgn="auto">
              <a:lnSpc>
                <a:spcPct val="120000"/>
              </a:lnSpc>
              <a:defRPr/>
            </a:pPr>
            <a:r>
              <a:rPr lang="zh-CN" altLang="en-US" sz="8800" b="0" i="0" u="none" spc="500" baseline="0">
                <a:gradFill>
                  <a:gsLst>
                    <a:gs pos="400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2700000"/>
                </a:gradFill>
                <a:latin typeface="思源宋体 CN Medium"/>
                <a:ea typeface="思源宋体 CN Medium"/>
              </a:rPr>
              <a:t>Thank you for watching.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E7C671"/>
      </a:dk2>
      <a:lt2>
        <a:srgbClr val="FFFFFF"/>
      </a:lt2>
      <a:accent1>
        <a:srgbClr val="E7C671"/>
      </a:accent1>
      <a:accent2>
        <a:srgbClr val="E7C671"/>
      </a:accent2>
      <a:accent3>
        <a:srgbClr val="E7C671"/>
      </a:accent3>
      <a:accent4>
        <a:srgbClr val="E7C671"/>
      </a:accent4>
      <a:accent5>
        <a:srgbClr val="E7C671"/>
      </a:accent5>
      <a:accent6>
        <a:srgbClr val="E7C671"/>
      </a:accent6>
      <a:hlink>
        <a:srgbClr val="262626"/>
      </a:hlink>
      <a:folHlink>
        <a:srgbClr val="262626"/>
      </a:folHlink>
    </a:clrScheme>
    <a:fontScheme name="Office">
      <a:maj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1040</Words>
  <Application>Microsoft Office PowerPoint</Application>
  <PresentationFormat>Widescreen</PresentationFormat>
  <Paragraphs>138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Microsoft YaHei</vt:lpstr>
      <vt:lpstr>Arial</vt:lpstr>
      <vt:lpstr>思源宋体 CN Medium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Mudassar</dc:creator>
  <cp:lastModifiedBy>Mudassar</cp:lastModifiedBy>
  <cp:revision>9</cp:revision>
  <dcterms:created xsi:type="dcterms:W3CDTF">2026-05-13T16:44:06Z</dcterms:created>
  <dcterms:modified xsi:type="dcterms:W3CDTF">2026-06-03T07:52:30Z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{"ContentPropagator":"文多多","Label":"1","ReservedCode1":"1778690646154","ProduceID":"wenduoduo-pptx-1778690646154","ReservedCode2":"1778690646154","PropagateID":"wenduoduo-pptx1778690646154","ContentProducer":"文多多"}</vt:lpwstr>
  </property>
</Properties>
</file>